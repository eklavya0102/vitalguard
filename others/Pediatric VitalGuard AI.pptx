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8288000" cy="10287000"/>
  <p:notesSz cx="6858000" cy="9144000"/>
  <p:embeddedFontLst>
    <p:embeddedFont>
      <p:font typeface="Roboto" panose="02000000000000000000" pitchFamily="2" charset="0"/>
      <p:regular r:id="rId9"/>
    </p:embeddedFont>
    <p:embeddedFont>
      <p:font typeface="Roboto Bold" panose="020B0604020202020204" charset="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30.png"/><Relationship Id="rId18" Type="http://schemas.openxmlformats.org/officeDocument/2006/relationships/image" Target="../media/image35.png"/><Relationship Id="rId3" Type="http://schemas.openxmlformats.org/officeDocument/2006/relationships/image" Target="../media/image20.png"/><Relationship Id="rId21" Type="http://schemas.openxmlformats.org/officeDocument/2006/relationships/image" Target="../media/image38.png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17" Type="http://schemas.openxmlformats.org/officeDocument/2006/relationships/image" Target="../media/image34.png"/><Relationship Id="rId2" Type="http://schemas.openxmlformats.org/officeDocument/2006/relationships/image" Target="../media/image19.png"/><Relationship Id="rId16" Type="http://schemas.openxmlformats.org/officeDocument/2006/relationships/image" Target="../media/image33.png"/><Relationship Id="rId20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5" Type="http://schemas.openxmlformats.org/officeDocument/2006/relationships/image" Target="../media/image32.png"/><Relationship Id="rId10" Type="http://schemas.openxmlformats.org/officeDocument/2006/relationships/image" Target="../media/image27.png"/><Relationship Id="rId19" Type="http://schemas.openxmlformats.org/officeDocument/2006/relationships/image" Target="../media/image36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Relationship Id="rId14" Type="http://schemas.openxmlformats.org/officeDocument/2006/relationships/image" Target="../media/image31.png"/><Relationship Id="rId22" Type="http://schemas.openxmlformats.org/officeDocument/2006/relationships/image" Target="../media/image3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13" Type="http://schemas.openxmlformats.org/officeDocument/2006/relationships/image" Target="../media/image51.png"/><Relationship Id="rId18" Type="http://schemas.openxmlformats.org/officeDocument/2006/relationships/image" Target="../media/image56.png"/><Relationship Id="rId3" Type="http://schemas.openxmlformats.org/officeDocument/2006/relationships/image" Target="../media/image41.png"/><Relationship Id="rId21" Type="http://schemas.openxmlformats.org/officeDocument/2006/relationships/image" Target="../media/image59.png"/><Relationship Id="rId7" Type="http://schemas.openxmlformats.org/officeDocument/2006/relationships/image" Target="../media/image45.png"/><Relationship Id="rId12" Type="http://schemas.openxmlformats.org/officeDocument/2006/relationships/image" Target="../media/image50.png"/><Relationship Id="rId17" Type="http://schemas.openxmlformats.org/officeDocument/2006/relationships/image" Target="../media/image55.png"/><Relationship Id="rId2" Type="http://schemas.openxmlformats.org/officeDocument/2006/relationships/image" Target="../media/image40.png"/><Relationship Id="rId16" Type="http://schemas.openxmlformats.org/officeDocument/2006/relationships/image" Target="../media/image54.png"/><Relationship Id="rId20" Type="http://schemas.openxmlformats.org/officeDocument/2006/relationships/image" Target="../media/image5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png"/><Relationship Id="rId11" Type="http://schemas.openxmlformats.org/officeDocument/2006/relationships/image" Target="../media/image49.png"/><Relationship Id="rId5" Type="http://schemas.openxmlformats.org/officeDocument/2006/relationships/image" Target="../media/image43.png"/><Relationship Id="rId15" Type="http://schemas.openxmlformats.org/officeDocument/2006/relationships/image" Target="../media/image53.png"/><Relationship Id="rId10" Type="http://schemas.openxmlformats.org/officeDocument/2006/relationships/image" Target="../media/image48.png"/><Relationship Id="rId19" Type="http://schemas.openxmlformats.org/officeDocument/2006/relationships/image" Target="../media/image57.png"/><Relationship Id="rId4" Type="http://schemas.openxmlformats.org/officeDocument/2006/relationships/image" Target="../media/image42.png"/><Relationship Id="rId9" Type="http://schemas.openxmlformats.org/officeDocument/2006/relationships/image" Target="../media/image47.png"/><Relationship Id="rId14" Type="http://schemas.openxmlformats.org/officeDocument/2006/relationships/image" Target="../media/image52.png"/><Relationship Id="rId22" Type="http://schemas.openxmlformats.org/officeDocument/2006/relationships/image" Target="../media/image60.png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2.png"/><Relationship Id="rId18" Type="http://schemas.openxmlformats.org/officeDocument/2006/relationships/image" Target="../media/image77.png"/><Relationship Id="rId26" Type="http://schemas.openxmlformats.org/officeDocument/2006/relationships/image" Target="../media/image85.png"/><Relationship Id="rId3" Type="http://schemas.openxmlformats.org/officeDocument/2006/relationships/image" Target="../media/image62.png"/><Relationship Id="rId21" Type="http://schemas.openxmlformats.org/officeDocument/2006/relationships/image" Target="../media/image80.png"/><Relationship Id="rId7" Type="http://schemas.openxmlformats.org/officeDocument/2006/relationships/image" Target="../media/image66.png"/><Relationship Id="rId12" Type="http://schemas.openxmlformats.org/officeDocument/2006/relationships/image" Target="../media/image71.png"/><Relationship Id="rId17" Type="http://schemas.openxmlformats.org/officeDocument/2006/relationships/image" Target="../media/image76.png"/><Relationship Id="rId25" Type="http://schemas.openxmlformats.org/officeDocument/2006/relationships/image" Target="../media/image84.png"/><Relationship Id="rId33" Type="http://schemas.openxmlformats.org/officeDocument/2006/relationships/image" Target="../media/image92.png"/><Relationship Id="rId2" Type="http://schemas.openxmlformats.org/officeDocument/2006/relationships/image" Target="../media/image61.png"/><Relationship Id="rId16" Type="http://schemas.openxmlformats.org/officeDocument/2006/relationships/image" Target="../media/image75.png"/><Relationship Id="rId20" Type="http://schemas.openxmlformats.org/officeDocument/2006/relationships/image" Target="../media/image79.png"/><Relationship Id="rId29" Type="http://schemas.openxmlformats.org/officeDocument/2006/relationships/image" Target="../media/image8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5.png"/><Relationship Id="rId11" Type="http://schemas.openxmlformats.org/officeDocument/2006/relationships/image" Target="../media/image70.png"/><Relationship Id="rId24" Type="http://schemas.openxmlformats.org/officeDocument/2006/relationships/image" Target="../media/image83.png"/><Relationship Id="rId32" Type="http://schemas.openxmlformats.org/officeDocument/2006/relationships/image" Target="../media/image91.png"/><Relationship Id="rId5" Type="http://schemas.openxmlformats.org/officeDocument/2006/relationships/image" Target="../media/image64.png"/><Relationship Id="rId15" Type="http://schemas.openxmlformats.org/officeDocument/2006/relationships/image" Target="../media/image74.png"/><Relationship Id="rId23" Type="http://schemas.openxmlformats.org/officeDocument/2006/relationships/image" Target="../media/image82.png"/><Relationship Id="rId28" Type="http://schemas.openxmlformats.org/officeDocument/2006/relationships/image" Target="../media/image87.png"/><Relationship Id="rId10" Type="http://schemas.openxmlformats.org/officeDocument/2006/relationships/image" Target="../media/image69.png"/><Relationship Id="rId19" Type="http://schemas.openxmlformats.org/officeDocument/2006/relationships/image" Target="../media/image78.png"/><Relationship Id="rId31" Type="http://schemas.openxmlformats.org/officeDocument/2006/relationships/image" Target="../media/image90.png"/><Relationship Id="rId4" Type="http://schemas.openxmlformats.org/officeDocument/2006/relationships/image" Target="../media/image63.png"/><Relationship Id="rId9" Type="http://schemas.openxmlformats.org/officeDocument/2006/relationships/image" Target="../media/image68.png"/><Relationship Id="rId14" Type="http://schemas.openxmlformats.org/officeDocument/2006/relationships/image" Target="../media/image73.png"/><Relationship Id="rId22" Type="http://schemas.openxmlformats.org/officeDocument/2006/relationships/image" Target="../media/image81.png"/><Relationship Id="rId27" Type="http://schemas.openxmlformats.org/officeDocument/2006/relationships/image" Target="../media/image86.png"/><Relationship Id="rId30" Type="http://schemas.openxmlformats.org/officeDocument/2006/relationships/image" Target="../media/image89.png"/><Relationship Id="rId8" Type="http://schemas.openxmlformats.org/officeDocument/2006/relationships/image" Target="../media/image6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9.png"/><Relationship Id="rId13" Type="http://schemas.openxmlformats.org/officeDocument/2006/relationships/image" Target="../media/image104.png"/><Relationship Id="rId18" Type="http://schemas.openxmlformats.org/officeDocument/2006/relationships/image" Target="../media/image109.png"/><Relationship Id="rId26" Type="http://schemas.openxmlformats.org/officeDocument/2006/relationships/image" Target="../media/image117.png"/><Relationship Id="rId3" Type="http://schemas.openxmlformats.org/officeDocument/2006/relationships/image" Target="../media/image94.png"/><Relationship Id="rId21" Type="http://schemas.openxmlformats.org/officeDocument/2006/relationships/image" Target="../media/image112.png"/><Relationship Id="rId7" Type="http://schemas.openxmlformats.org/officeDocument/2006/relationships/image" Target="../media/image98.png"/><Relationship Id="rId12" Type="http://schemas.openxmlformats.org/officeDocument/2006/relationships/image" Target="../media/image103.png"/><Relationship Id="rId17" Type="http://schemas.openxmlformats.org/officeDocument/2006/relationships/image" Target="../media/image108.png"/><Relationship Id="rId25" Type="http://schemas.openxmlformats.org/officeDocument/2006/relationships/image" Target="../media/image116.png"/><Relationship Id="rId2" Type="http://schemas.openxmlformats.org/officeDocument/2006/relationships/image" Target="../media/image93.png"/><Relationship Id="rId16" Type="http://schemas.openxmlformats.org/officeDocument/2006/relationships/image" Target="../media/image107.png"/><Relationship Id="rId20" Type="http://schemas.openxmlformats.org/officeDocument/2006/relationships/image" Target="../media/image1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7.png"/><Relationship Id="rId11" Type="http://schemas.openxmlformats.org/officeDocument/2006/relationships/image" Target="../media/image102.png"/><Relationship Id="rId24" Type="http://schemas.openxmlformats.org/officeDocument/2006/relationships/image" Target="../media/image115.png"/><Relationship Id="rId5" Type="http://schemas.openxmlformats.org/officeDocument/2006/relationships/image" Target="../media/image96.png"/><Relationship Id="rId15" Type="http://schemas.openxmlformats.org/officeDocument/2006/relationships/image" Target="../media/image106.png"/><Relationship Id="rId23" Type="http://schemas.openxmlformats.org/officeDocument/2006/relationships/image" Target="../media/image114.png"/><Relationship Id="rId28" Type="http://schemas.openxmlformats.org/officeDocument/2006/relationships/image" Target="../media/image119.png"/><Relationship Id="rId10" Type="http://schemas.openxmlformats.org/officeDocument/2006/relationships/image" Target="../media/image101.png"/><Relationship Id="rId19" Type="http://schemas.openxmlformats.org/officeDocument/2006/relationships/image" Target="../media/image110.png"/><Relationship Id="rId4" Type="http://schemas.openxmlformats.org/officeDocument/2006/relationships/image" Target="../media/image95.png"/><Relationship Id="rId9" Type="http://schemas.openxmlformats.org/officeDocument/2006/relationships/image" Target="../media/image100.png"/><Relationship Id="rId14" Type="http://schemas.openxmlformats.org/officeDocument/2006/relationships/image" Target="../media/image105.png"/><Relationship Id="rId22" Type="http://schemas.openxmlformats.org/officeDocument/2006/relationships/image" Target="../media/image113.png"/><Relationship Id="rId27" Type="http://schemas.openxmlformats.org/officeDocument/2006/relationships/image" Target="../media/image118.png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1.png"/><Relationship Id="rId18" Type="http://schemas.openxmlformats.org/officeDocument/2006/relationships/image" Target="../media/image136.png"/><Relationship Id="rId26" Type="http://schemas.openxmlformats.org/officeDocument/2006/relationships/image" Target="../media/image144.png"/><Relationship Id="rId3" Type="http://schemas.openxmlformats.org/officeDocument/2006/relationships/image" Target="../media/image121.png"/><Relationship Id="rId21" Type="http://schemas.openxmlformats.org/officeDocument/2006/relationships/image" Target="../media/image139.png"/><Relationship Id="rId34" Type="http://schemas.openxmlformats.org/officeDocument/2006/relationships/image" Target="../media/image152.png"/><Relationship Id="rId7" Type="http://schemas.openxmlformats.org/officeDocument/2006/relationships/image" Target="../media/image125.png"/><Relationship Id="rId12" Type="http://schemas.openxmlformats.org/officeDocument/2006/relationships/image" Target="../media/image130.png"/><Relationship Id="rId17" Type="http://schemas.openxmlformats.org/officeDocument/2006/relationships/image" Target="../media/image135.png"/><Relationship Id="rId25" Type="http://schemas.openxmlformats.org/officeDocument/2006/relationships/image" Target="../media/image143.png"/><Relationship Id="rId33" Type="http://schemas.openxmlformats.org/officeDocument/2006/relationships/image" Target="../media/image151.png"/><Relationship Id="rId2" Type="http://schemas.openxmlformats.org/officeDocument/2006/relationships/image" Target="../media/image120.png"/><Relationship Id="rId16" Type="http://schemas.openxmlformats.org/officeDocument/2006/relationships/image" Target="../media/image134.png"/><Relationship Id="rId20" Type="http://schemas.openxmlformats.org/officeDocument/2006/relationships/image" Target="../media/image138.png"/><Relationship Id="rId29" Type="http://schemas.openxmlformats.org/officeDocument/2006/relationships/image" Target="../media/image14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4.png"/><Relationship Id="rId11" Type="http://schemas.openxmlformats.org/officeDocument/2006/relationships/image" Target="../media/image129.png"/><Relationship Id="rId24" Type="http://schemas.openxmlformats.org/officeDocument/2006/relationships/image" Target="../media/image142.png"/><Relationship Id="rId32" Type="http://schemas.openxmlformats.org/officeDocument/2006/relationships/image" Target="../media/image150.png"/><Relationship Id="rId5" Type="http://schemas.openxmlformats.org/officeDocument/2006/relationships/image" Target="../media/image123.png"/><Relationship Id="rId15" Type="http://schemas.openxmlformats.org/officeDocument/2006/relationships/image" Target="../media/image133.png"/><Relationship Id="rId23" Type="http://schemas.openxmlformats.org/officeDocument/2006/relationships/image" Target="../media/image141.png"/><Relationship Id="rId28" Type="http://schemas.openxmlformats.org/officeDocument/2006/relationships/image" Target="../media/image146.png"/><Relationship Id="rId10" Type="http://schemas.openxmlformats.org/officeDocument/2006/relationships/image" Target="../media/image128.png"/><Relationship Id="rId19" Type="http://schemas.openxmlformats.org/officeDocument/2006/relationships/image" Target="../media/image137.png"/><Relationship Id="rId31" Type="http://schemas.openxmlformats.org/officeDocument/2006/relationships/image" Target="../media/image149.png"/><Relationship Id="rId4" Type="http://schemas.openxmlformats.org/officeDocument/2006/relationships/image" Target="../media/image122.png"/><Relationship Id="rId9" Type="http://schemas.openxmlformats.org/officeDocument/2006/relationships/image" Target="../media/image127.png"/><Relationship Id="rId14" Type="http://schemas.openxmlformats.org/officeDocument/2006/relationships/image" Target="../media/image132.png"/><Relationship Id="rId22" Type="http://schemas.openxmlformats.org/officeDocument/2006/relationships/image" Target="../media/image140.png"/><Relationship Id="rId27" Type="http://schemas.openxmlformats.org/officeDocument/2006/relationships/image" Target="../media/image145.png"/><Relationship Id="rId30" Type="http://schemas.openxmlformats.org/officeDocument/2006/relationships/image" Target="../media/image148.png"/><Relationship Id="rId35" Type="http://schemas.openxmlformats.org/officeDocument/2006/relationships/image" Target="../media/image153.png"/><Relationship Id="rId8" Type="http://schemas.openxmlformats.org/officeDocument/2006/relationships/image" Target="../media/image12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0.png"/><Relationship Id="rId3" Type="http://schemas.openxmlformats.org/officeDocument/2006/relationships/image" Target="../media/image155.png"/><Relationship Id="rId7" Type="http://schemas.openxmlformats.org/officeDocument/2006/relationships/image" Target="../media/image159.png"/><Relationship Id="rId2" Type="http://schemas.openxmlformats.org/officeDocument/2006/relationships/image" Target="../media/image15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8.png"/><Relationship Id="rId11" Type="http://schemas.openxmlformats.org/officeDocument/2006/relationships/image" Target="../media/image163.png"/><Relationship Id="rId5" Type="http://schemas.openxmlformats.org/officeDocument/2006/relationships/image" Target="../media/image157.png"/><Relationship Id="rId10" Type="http://schemas.openxmlformats.org/officeDocument/2006/relationships/image" Target="../media/image162.png"/><Relationship Id="rId4" Type="http://schemas.openxmlformats.org/officeDocument/2006/relationships/image" Target="../media/image156.png"/><Relationship Id="rId9" Type="http://schemas.openxmlformats.org/officeDocument/2006/relationships/image" Target="../media/image16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8268976" y="0"/>
            <a:ext cx="5020450" cy="4503979"/>
          </a:xfrm>
          <a:custGeom>
            <a:avLst/>
            <a:gdLst/>
            <a:ahLst/>
            <a:cxnLst/>
            <a:rect l="l" t="t" r="r" b="b"/>
            <a:pathLst>
              <a:path w="5020450" h="4503979">
                <a:moveTo>
                  <a:pt x="0" y="0"/>
                </a:moveTo>
                <a:lnTo>
                  <a:pt x="5020450" y="0"/>
                </a:lnTo>
                <a:lnTo>
                  <a:pt x="5020450" y="4503979"/>
                </a:lnTo>
                <a:lnTo>
                  <a:pt x="0" y="45039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9351818" y="2350377"/>
            <a:ext cx="6759560" cy="1727254"/>
          </a:xfrm>
          <a:custGeom>
            <a:avLst/>
            <a:gdLst/>
            <a:ahLst/>
            <a:cxnLst/>
            <a:rect l="l" t="t" r="r" b="b"/>
            <a:pathLst>
              <a:path w="6759560" h="1727254">
                <a:moveTo>
                  <a:pt x="0" y="0"/>
                </a:moveTo>
                <a:lnTo>
                  <a:pt x="6759560" y="0"/>
                </a:lnTo>
                <a:lnTo>
                  <a:pt x="6759560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497146" y="1054758"/>
            <a:ext cx="6542444" cy="2302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10"/>
              </a:lnSpc>
            </a:pPr>
            <a:r>
              <a:rPr lang="en-US" sz="8648" b="1" spc="-84" dirty="0">
                <a:solidFill>
                  <a:srgbClr val="051B44"/>
                </a:solidFill>
                <a:latin typeface="Roboto Bold"/>
                <a:ea typeface="Roboto Bold"/>
                <a:cs typeface="Roboto Bold"/>
                <a:sym typeface="Roboto Bold"/>
              </a:rPr>
              <a:t>Pediatric </a:t>
            </a:r>
            <a:r>
              <a:rPr lang="en-US" sz="8648" b="1" spc="-84" dirty="0" err="1">
                <a:solidFill>
                  <a:srgbClr val="051B44"/>
                </a:solidFill>
                <a:latin typeface="Roboto Bold"/>
                <a:ea typeface="Roboto Bold"/>
                <a:cs typeface="Roboto Bold"/>
                <a:sym typeface="Roboto Bold"/>
              </a:rPr>
              <a:t>VitalGuard</a:t>
            </a:r>
            <a:r>
              <a:rPr lang="en-US" sz="8648" b="1" spc="-84" dirty="0">
                <a:solidFill>
                  <a:srgbClr val="051B44"/>
                </a:solidFill>
                <a:latin typeface="Roboto Bold"/>
                <a:ea typeface="Roboto Bold"/>
                <a:cs typeface="Roboto Bold"/>
                <a:sym typeface="Roboto Bold"/>
              </a:rPr>
              <a:t> AI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99823" y="3418911"/>
            <a:ext cx="6274748" cy="1076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323" b="1" spc="-32" dirty="0">
                <a:solidFill>
                  <a:srgbClr val="051B44"/>
                </a:solidFill>
                <a:latin typeface="Roboto Bold"/>
                <a:ea typeface="Roboto Bold"/>
                <a:cs typeface="Roboto Bold"/>
                <a:sym typeface="Roboto Bold"/>
              </a:rPr>
              <a:t>Adaptive Pediatric Measurement Reliability Analysis System</a:t>
            </a:r>
          </a:p>
        </p:txBody>
      </p:sp>
      <p:sp>
        <p:nvSpPr>
          <p:cNvPr id="7" name="Freeform 7"/>
          <p:cNvSpPr/>
          <p:nvPr/>
        </p:nvSpPr>
        <p:spPr>
          <a:xfrm>
            <a:off x="426574" y="4711687"/>
            <a:ext cx="1323474" cy="218640"/>
          </a:xfrm>
          <a:custGeom>
            <a:avLst/>
            <a:gdLst/>
            <a:ahLst/>
            <a:cxnLst/>
            <a:rect l="l" t="t" r="r" b="b"/>
            <a:pathLst>
              <a:path w="1323474" h="218640">
                <a:moveTo>
                  <a:pt x="0" y="0"/>
                </a:moveTo>
                <a:lnTo>
                  <a:pt x="1323474" y="0"/>
                </a:lnTo>
                <a:lnTo>
                  <a:pt x="1323474" y="218639"/>
                </a:lnTo>
                <a:lnTo>
                  <a:pt x="0" y="2186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505169" y="5256310"/>
            <a:ext cx="5740088" cy="5575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56"/>
              </a:lnSpc>
            </a:pPr>
            <a:r>
              <a:rPr lang="en-US" sz="3428" b="1" spc="-33">
                <a:solidFill>
                  <a:srgbClr val="107D9D"/>
                </a:solidFill>
                <a:latin typeface="Roboto Bold"/>
                <a:ea typeface="Roboto Bold"/>
                <a:cs typeface="Roboto Bold"/>
                <a:sym typeface="Roboto Bold"/>
              </a:rPr>
              <a:t>Measure.</a:t>
            </a:r>
            <a:r>
              <a:rPr lang="en-US" sz="3428" b="1" spc="-33">
                <a:solidFill>
                  <a:srgbClr val="051B44"/>
                </a:solidFill>
                <a:latin typeface="Roboto Bold"/>
                <a:ea typeface="Roboto Bold"/>
                <a:cs typeface="Roboto Bold"/>
                <a:sym typeface="Roboto Bold"/>
              </a:rPr>
              <a:t> Verify.</a:t>
            </a:r>
            <a:r>
              <a:rPr lang="en-US" sz="3428" b="1" spc="-33">
                <a:solidFill>
                  <a:srgbClr val="E47C0C"/>
                </a:solidFill>
                <a:latin typeface="Roboto Bold"/>
                <a:ea typeface="Roboto Bold"/>
                <a:cs typeface="Roboto Bold"/>
                <a:sym typeface="Roboto Bold"/>
              </a:rPr>
              <a:t> Understand.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11281" y="6054461"/>
            <a:ext cx="5128923" cy="8412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83"/>
              </a:lnSpc>
            </a:pPr>
            <a:r>
              <a:rPr lang="en-US" sz="2488" spc="-24">
                <a:solidFill>
                  <a:srgbClr val="051B44"/>
                </a:solidFill>
                <a:latin typeface="Roboto"/>
                <a:ea typeface="Roboto"/>
                <a:cs typeface="Roboto"/>
                <a:sym typeface="Roboto"/>
              </a:rPr>
              <a:t>detecting unreliable pediatric</a:t>
            </a:r>
          </a:p>
          <a:p>
            <a:pPr algn="l">
              <a:lnSpc>
                <a:spcPts val="3483"/>
              </a:lnSpc>
            </a:pPr>
            <a:r>
              <a:rPr lang="en-US" sz="2488" spc="-24">
                <a:solidFill>
                  <a:srgbClr val="051B44"/>
                </a:solidFill>
                <a:latin typeface="Roboto"/>
                <a:ea typeface="Roboto"/>
                <a:cs typeface="Roboto"/>
                <a:sym typeface="Roboto"/>
              </a:rPr>
              <a:t>vital-sign readings during movement</a:t>
            </a:r>
          </a:p>
        </p:txBody>
      </p:sp>
      <p:sp>
        <p:nvSpPr>
          <p:cNvPr id="10" name="Freeform 10"/>
          <p:cNvSpPr/>
          <p:nvPr/>
        </p:nvSpPr>
        <p:spPr>
          <a:xfrm>
            <a:off x="426574" y="7280704"/>
            <a:ext cx="6759560" cy="863627"/>
          </a:xfrm>
          <a:custGeom>
            <a:avLst/>
            <a:gdLst/>
            <a:ahLst/>
            <a:cxnLst/>
            <a:rect l="l" t="t" r="r" b="b"/>
            <a:pathLst>
              <a:path w="6759560" h="863627">
                <a:moveTo>
                  <a:pt x="0" y="0"/>
                </a:moveTo>
                <a:lnTo>
                  <a:pt x="6759560" y="0"/>
                </a:lnTo>
                <a:lnTo>
                  <a:pt x="6759560" y="863626"/>
                </a:lnTo>
                <a:lnTo>
                  <a:pt x="0" y="86362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785993" y="7459383"/>
            <a:ext cx="1767888" cy="3733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84"/>
              </a:lnSpc>
            </a:pPr>
            <a:r>
              <a:rPr lang="en-US" sz="2373" b="1" spc="-23">
                <a:solidFill>
                  <a:srgbClr val="107D9D"/>
                </a:solidFill>
                <a:latin typeface="Roboto Bold"/>
                <a:ea typeface="Roboto Bold"/>
                <a:cs typeface="Roboto Bold"/>
                <a:sym typeface="Roboto Bold"/>
              </a:rPr>
              <a:t>MED-PS-010</a:t>
            </a:r>
          </a:p>
        </p:txBody>
      </p:sp>
      <p:sp>
        <p:nvSpPr>
          <p:cNvPr id="12" name="Freeform 12"/>
          <p:cNvSpPr/>
          <p:nvPr/>
        </p:nvSpPr>
        <p:spPr>
          <a:xfrm>
            <a:off x="2603196" y="7280704"/>
            <a:ext cx="229694" cy="655919"/>
          </a:xfrm>
          <a:custGeom>
            <a:avLst/>
            <a:gdLst/>
            <a:ahLst/>
            <a:cxnLst/>
            <a:rect l="l" t="t" r="r" b="b"/>
            <a:pathLst>
              <a:path w="229694" h="655919">
                <a:moveTo>
                  <a:pt x="0" y="0"/>
                </a:moveTo>
                <a:lnTo>
                  <a:pt x="229694" y="0"/>
                </a:lnTo>
                <a:lnTo>
                  <a:pt x="229694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2951972" y="7459351"/>
            <a:ext cx="2161432" cy="3733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84"/>
              </a:lnSpc>
            </a:pPr>
            <a:r>
              <a:rPr lang="en-US" sz="2373" b="1" spc="-23">
                <a:solidFill>
                  <a:srgbClr val="051B44"/>
                </a:solidFill>
                <a:latin typeface="Roboto Bold"/>
                <a:ea typeface="Roboto Bold"/>
                <a:cs typeface="Roboto Bold"/>
                <a:sym typeface="Roboto Bold"/>
              </a:rPr>
              <a:t>MEDAITHON’26</a:t>
            </a:r>
          </a:p>
        </p:txBody>
      </p:sp>
      <p:sp>
        <p:nvSpPr>
          <p:cNvPr id="14" name="Freeform 14"/>
          <p:cNvSpPr/>
          <p:nvPr/>
        </p:nvSpPr>
        <p:spPr>
          <a:xfrm>
            <a:off x="5217330" y="7280704"/>
            <a:ext cx="229694" cy="655919"/>
          </a:xfrm>
          <a:custGeom>
            <a:avLst/>
            <a:gdLst/>
            <a:ahLst/>
            <a:cxnLst/>
            <a:rect l="l" t="t" r="r" b="b"/>
            <a:pathLst>
              <a:path w="229694" h="655919">
                <a:moveTo>
                  <a:pt x="0" y="0"/>
                </a:moveTo>
                <a:lnTo>
                  <a:pt x="229694" y="0"/>
                </a:lnTo>
                <a:lnTo>
                  <a:pt x="229694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5503378" y="7459351"/>
            <a:ext cx="1516886" cy="3733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84"/>
              </a:lnSpc>
            </a:pPr>
            <a:r>
              <a:rPr lang="en-US" sz="2373" b="1" spc="-23">
                <a:solidFill>
                  <a:srgbClr val="107D9D"/>
                </a:solidFill>
                <a:latin typeface="Roboto Bold"/>
                <a:ea typeface="Roboto Bold"/>
                <a:cs typeface="Roboto Bold"/>
                <a:sym typeface="Roboto Bold"/>
              </a:rPr>
              <a:t>Code4Cure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45304" y="8257575"/>
            <a:ext cx="1726616" cy="3733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84"/>
              </a:lnSpc>
            </a:pPr>
            <a:r>
              <a:rPr lang="en-US" sz="2373" b="1" spc="-23" dirty="0">
                <a:solidFill>
                  <a:srgbClr val="051B44"/>
                </a:solidFill>
                <a:latin typeface="Roboto Bold"/>
                <a:ea typeface="Roboto Bold"/>
                <a:cs typeface="Roboto Bold"/>
                <a:sym typeface="Roboto Bold"/>
              </a:rPr>
              <a:t>Team :</a:t>
            </a:r>
          </a:p>
        </p:txBody>
      </p:sp>
      <p:sp>
        <p:nvSpPr>
          <p:cNvPr id="22" name="Freeform 22"/>
          <p:cNvSpPr/>
          <p:nvPr/>
        </p:nvSpPr>
        <p:spPr>
          <a:xfrm>
            <a:off x="8050220" y="3848060"/>
            <a:ext cx="3062584" cy="4088563"/>
          </a:xfrm>
          <a:custGeom>
            <a:avLst/>
            <a:gdLst/>
            <a:ahLst/>
            <a:cxnLst/>
            <a:rect l="l" t="t" r="r" b="b"/>
            <a:pathLst>
              <a:path w="3062584" h="4088563">
                <a:moveTo>
                  <a:pt x="0" y="0"/>
                </a:moveTo>
                <a:lnTo>
                  <a:pt x="3062584" y="0"/>
                </a:lnTo>
                <a:lnTo>
                  <a:pt x="3062584" y="4088563"/>
                </a:lnTo>
                <a:lnTo>
                  <a:pt x="0" y="408856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8524553" y="4000839"/>
            <a:ext cx="2115754" cy="3170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0"/>
              </a:lnSpc>
            </a:pPr>
            <a:r>
              <a:rPr lang="en-US" sz="1931" b="1" spc="-18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SENSOR CAPTURE</a:t>
            </a:r>
          </a:p>
        </p:txBody>
      </p:sp>
      <p:sp>
        <p:nvSpPr>
          <p:cNvPr id="24" name="Freeform 24"/>
          <p:cNvSpPr/>
          <p:nvPr/>
        </p:nvSpPr>
        <p:spPr>
          <a:xfrm>
            <a:off x="8268976" y="4493047"/>
            <a:ext cx="2625072" cy="2153601"/>
          </a:xfrm>
          <a:custGeom>
            <a:avLst/>
            <a:gdLst/>
            <a:ahLst/>
            <a:cxnLst/>
            <a:rect l="l" t="t" r="r" b="b"/>
            <a:pathLst>
              <a:path w="2625072" h="2153601">
                <a:moveTo>
                  <a:pt x="0" y="0"/>
                </a:moveTo>
                <a:lnTo>
                  <a:pt x="2625072" y="0"/>
                </a:lnTo>
                <a:lnTo>
                  <a:pt x="2625072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25" name="TextBox 25"/>
          <p:cNvSpPr txBox="1"/>
          <p:nvPr/>
        </p:nvSpPr>
        <p:spPr>
          <a:xfrm>
            <a:off x="8428007" y="6867836"/>
            <a:ext cx="2168507" cy="609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9"/>
              </a:lnSpc>
            </a:pPr>
            <a:r>
              <a:rPr lang="en-US" sz="1792" b="1" spc="-17">
                <a:solidFill>
                  <a:srgbClr val="051B44"/>
                </a:solidFill>
                <a:latin typeface="Roboto Bold"/>
                <a:ea typeface="Roboto Bold"/>
                <a:cs typeface="Roboto Bold"/>
                <a:sym typeface="Roboto Bold"/>
              </a:rPr>
              <a:t>continuous vital-sign data capture</a:t>
            </a:r>
          </a:p>
        </p:txBody>
      </p:sp>
      <p:sp>
        <p:nvSpPr>
          <p:cNvPr id="26" name="Freeform 26"/>
          <p:cNvSpPr/>
          <p:nvPr/>
        </p:nvSpPr>
        <p:spPr>
          <a:xfrm>
            <a:off x="10883110" y="5356674"/>
            <a:ext cx="656268" cy="437279"/>
          </a:xfrm>
          <a:custGeom>
            <a:avLst/>
            <a:gdLst/>
            <a:ahLst/>
            <a:cxnLst/>
            <a:rect l="l" t="t" r="r" b="b"/>
            <a:pathLst>
              <a:path w="656268" h="437279">
                <a:moveTo>
                  <a:pt x="0" y="0"/>
                </a:moveTo>
                <a:lnTo>
                  <a:pt x="656268" y="0"/>
                </a:lnTo>
                <a:lnTo>
                  <a:pt x="656268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11320622" y="3848060"/>
            <a:ext cx="3051646" cy="4088563"/>
          </a:xfrm>
          <a:custGeom>
            <a:avLst/>
            <a:gdLst/>
            <a:ahLst/>
            <a:cxnLst/>
            <a:rect l="l" t="t" r="r" b="b"/>
            <a:pathLst>
              <a:path w="3051646" h="4088563">
                <a:moveTo>
                  <a:pt x="0" y="0"/>
                </a:moveTo>
                <a:lnTo>
                  <a:pt x="3051646" y="0"/>
                </a:lnTo>
                <a:lnTo>
                  <a:pt x="3051646" y="4088563"/>
                </a:lnTo>
                <a:lnTo>
                  <a:pt x="0" y="408856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28" name="TextBox 28"/>
          <p:cNvSpPr txBox="1"/>
          <p:nvPr/>
        </p:nvSpPr>
        <p:spPr>
          <a:xfrm>
            <a:off x="11763496" y="4000839"/>
            <a:ext cx="2369198" cy="3170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0"/>
              </a:lnSpc>
            </a:pPr>
            <a:r>
              <a:rPr lang="en-US" sz="1931" b="1" spc="-18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AI ANALYSIS ENGINE</a:t>
            </a:r>
          </a:p>
        </p:txBody>
      </p:sp>
      <p:sp>
        <p:nvSpPr>
          <p:cNvPr id="29" name="Freeform 29"/>
          <p:cNvSpPr/>
          <p:nvPr/>
        </p:nvSpPr>
        <p:spPr>
          <a:xfrm>
            <a:off x="11747196" y="4711687"/>
            <a:ext cx="2187560" cy="1934962"/>
          </a:xfrm>
          <a:custGeom>
            <a:avLst/>
            <a:gdLst/>
            <a:ahLst/>
            <a:cxnLst/>
            <a:rect l="l" t="t" r="r" b="b"/>
            <a:pathLst>
              <a:path w="2187560" h="1934962">
                <a:moveTo>
                  <a:pt x="0" y="0"/>
                </a:moveTo>
                <a:lnTo>
                  <a:pt x="2187560" y="0"/>
                </a:lnTo>
                <a:lnTo>
                  <a:pt x="2187560" y="1934961"/>
                </a:lnTo>
                <a:lnTo>
                  <a:pt x="0" y="193496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30" name="TextBox 30"/>
          <p:cNvSpPr txBox="1"/>
          <p:nvPr/>
        </p:nvSpPr>
        <p:spPr>
          <a:xfrm>
            <a:off x="11943400" y="6867836"/>
            <a:ext cx="1886422" cy="609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9"/>
              </a:lnSpc>
            </a:pPr>
            <a:r>
              <a:rPr lang="en-US" sz="1792" b="1" spc="-17">
                <a:solidFill>
                  <a:srgbClr val="051B44"/>
                </a:solidFill>
                <a:latin typeface="Roboto Bold"/>
                <a:ea typeface="Roboto Bold"/>
                <a:cs typeface="Roboto Bold"/>
                <a:sym typeface="Roboto Bold"/>
              </a:rPr>
              <a:t>adaptive reliability assessment</a:t>
            </a:r>
          </a:p>
        </p:txBody>
      </p:sp>
      <p:sp>
        <p:nvSpPr>
          <p:cNvPr id="31" name="Freeform 31"/>
          <p:cNvSpPr/>
          <p:nvPr/>
        </p:nvSpPr>
        <p:spPr>
          <a:xfrm>
            <a:off x="14142574" y="5356674"/>
            <a:ext cx="667206" cy="437279"/>
          </a:xfrm>
          <a:custGeom>
            <a:avLst/>
            <a:gdLst/>
            <a:ahLst/>
            <a:cxnLst/>
            <a:rect l="l" t="t" r="r" b="b"/>
            <a:pathLst>
              <a:path w="667206" h="437279">
                <a:moveTo>
                  <a:pt x="0" y="0"/>
                </a:moveTo>
                <a:lnTo>
                  <a:pt x="667206" y="0"/>
                </a:lnTo>
                <a:lnTo>
                  <a:pt x="667206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32" name="Freeform 32"/>
          <p:cNvSpPr/>
          <p:nvPr/>
        </p:nvSpPr>
        <p:spPr>
          <a:xfrm>
            <a:off x="14798842" y="3848060"/>
            <a:ext cx="3062584" cy="4088563"/>
          </a:xfrm>
          <a:custGeom>
            <a:avLst/>
            <a:gdLst/>
            <a:ahLst/>
            <a:cxnLst/>
            <a:rect l="l" t="t" r="r" b="b"/>
            <a:pathLst>
              <a:path w="3062584" h="4088563">
                <a:moveTo>
                  <a:pt x="0" y="0"/>
                </a:moveTo>
                <a:lnTo>
                  <a:pt x="3062584" y="0"/>
                </a:lnTo>
                <a:lnTo>
                  <a:pt x="3062584" y="4088563"/>
                </a:lnTo>
                <a:lnTo>
                  <a:pt x="0" y="4088563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33" name="TextBox 33"/>
          <p:cNvSpPr txBox="1"/>
          <p:nvPr/>
        </p:nvSpPr>
        <p:spPr>
          <a:xfrm>
            <a:off x="15110117" y="4000938"/>
            <a:ext cx="2570311" cy="31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3"/>
              </a:lnSpc>
            </a:pPr>
            <a:r>
              <a:rPr lang="en-US" sz="1933" b="1" spc="-18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RELIABILITY INSIGHTS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5123509" y="4737381"/>
            <a:ext cx="1231113" cy="420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99"/>
              </a:lnSpc>
            </a:pPr>
            <a:r>
              <a:rPr lang="en-US" sz="1230" b="1" spc="-12">
                <a:solidFill>
                  <a:srgbClr val="051B44"/>
                </a:solidFill>
                <a:latin typeface="Roboto Bold"/>
                <a:ea typeface="Roboto Bold"/>
                <a:cs typeface="Roboto Bold"/>
                <a:sym typeface="Roboto Bold"/>
              </a:rPr>
              <a:t>SIGNAL QUALITY</a:t>
            </a:r>
          </a:p>
          <a:p>
            <a:pPr algn="l">
              <a:lnSpc>
                <a:spcPts val="1964"/>
              </a:lnSpc>
            </a:pPr>
            <a:r>
              <a:rPr lang="en-US" sz="1511" b="1" spc="-14">
                <a:solidFill>
                  <a:srgbClr val="107D9D"/>
                </a:solidFill>
                <a:latin typeface="Roboto Bold"/>
                <a:ea typeface="Roboto Bold"/>
                <a:cs typeface="Roboto Bold"/>
                <a:sym typeface="Roboto Bold"/>
              </a:rPr>
              <a:t>RELIABLE</a:t>
            </a:r>
          </a:p>
        </p:txBody>
      </p:sp>
      <p:sp>
        <p:nvSpPr>
          <p:cNvPr id="35" name="Freeform 35"/>
          <p:cNvSpPr/>
          <p:nvPr/>
        </p:nvSpPr>
        <p:spPr>
          <a:xfrm>
            <a:off x="16975464" y="4711687"/>
            <a:ext cx="448450" cy="655919"/>
          </a:xfrm>
          <a:custGeom>
            <a:avLst/>
            <a:gdLst/>
            <a:ahLst/>
            <a:cxnLst/>
            <a:rect l="l" t="t" r="r" b="b"/>
            <a:pathLst>
              <a:path w="448450" h="655919">
                <a:moveTo>
                  <a:pt x="0" y="0"/>
                </a:moveTo>
                <a:lnTo>
                  <a:pt x="448450" y="0"/>
                </a:lnTo>
                <a:lnTo>
                  <a:pt x="448450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36" name="TextBox 36"/>
          <p:cNvSpPr txBox="1"/>
          <p:nvPr/>
        </p:nvSpPr>
        <p:spPr>
          <a:xfrm>
            <a:off x="15126681" y="5486385"/>
            <a:ext cx="913896" cy="6009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38"/>
              </a:lnSpc>
            </a:pPr>
            <a:r>
              <a:rPr lang="en-US" sz="1183" b="1" spc="-11">
                <a:solidFill>
                  <a:srgbClr val="051B44"/>
                </a:solidFill>
                <a:latin typeface="Roboto Bold"/>
                <a:ea typeface="Roboto Bold"/>
                <a:cs typeface="Roboto Bold"/>
                <a:sym typeface="Roboto Bold"/>
              </a:rPr>
              <a:t>CONFIDENCE LEVEL</a:t>
            </a:r>
          </a:p>
          <a:p>
            <a:pPr algn="l">
              <a:lnSpc>
                <a:spcPts val="1877"/>
              </a:lnSpc>
            </a:pPr>
            <a:r>
              <a:rPr lang="en-US" sz="1444" b="1" spc="-14">
                <a:solidFill>
                  <a:srgbClr val="107D9D"/>
                </a:solidFill>
                <a:latin typeface="Roboto Bold"/>
                <a:ea typeface="Roboto Bold"/>
                <a:cs typeface="Roboto Bold"/>
                <a:sym typeface="Roboto Bold"/>
              </a:rPr>
              <a:t>HIGH</a:t>
            </a:r>
          </a:p>
        </p:txBody>
      </p:sp>
      <p:sp>
        <p:nvSpPr>
          <p:cNvPr id="37" name="Freeform 37"/>
          <p:cNvSpPr/>
          <p:nvPr/>
        </p:nvSpPr>
        <p:spPr>
          <a:xfrm>
            <a:off x="16756708" y="5356674"/>
            <a:ext cx="885962" cy="863627"/>
          </a:xfrm>
          <a:custGeom>
            <a:avLst/>
            <a:gdLst/>
            <a:ahLst/>
            <a:cxnLst/>
            <a:rect l="l" t="t" r="r" b="b"/>
            <a:pathLst>
              <a:path w="885962" h="863627">
                <a:moveTo>
                  <a:pt x="0" y="0"/>
                </a:moveTo>
                <a:lnTo>
                  <a:pt x="885962" y="0"/>
                </a:lnTo>
                <a:lnTo>
                  <a:pt x="885962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38" name="Freeform 38"/>
          <p:cNvSpPr/>
          <p:nvPr/>
        </p:nvSpPr>
        <p:spPr>
          <a:xfrm>
            <a:off x="15017598" y="6209369"/>
            <a:ext cx="2625072" cy="1508614"/>
          </a:xfrm>
          <a:custGeom>
            <a:avLst/>
            <a:gdLst/>
            <a:ahLst/>
            <a:cxnLst/>
            <a:rect l="l" t="t" r="r" b="b"/>
            <a:pathLst>
              <a:path w="2625072" h="1508614">
                <a:moveTo>
                  <a:pt x="0" y="0"/>
                </a:moveTo>
                <a:lnTo>
                  <a:pt x="2625072" y="0"/>
                </a:lnTo>
                <a:lnTo>
                  <a:pt x="2625072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</p:sp>
      <p:sp>
        <p:nvSpPr>
          <p:cNvPr id="39" name="TextBox 39"/>
          <p:cNvSpPr txBox="1"/>
          <p:nvPr/>
        </p:nvSpPr>
        <p:spPr>
          <a:xfrm>
            <a:off x="15122900" y="6420155"/>
            <a:ext cx="1292026" cy="1920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38"/>
              </a:lnSpc>
            </a:pPr>
            <a:r>
              <a:rPr lang="en-US" sz="1183" b="1" spc="-11">
                <a:solidFill>
                  <a:srgbClr val="051B44"/>
                </a:solidFill>
                <a:latin typeface="Roboto Bold"/>
                <a:ea typeface="Roboto Bold"/>
                <a:cs typeface="Roboto Bold"/>
                <a:sym typeface="Roboto Bold"/>
              </a:rPr>
              <a:t>TREND OVER TIME</a:t>
            </a:r>
          </a:p>
        </p:txBody>
      </p:sp>
      <p:sp>
        <p:nvSpPr>
          <p:cNvPr id="40" name="Freeform 40"/>
          <p:cNvSpPr/>
          <p:nvPr/>
        </p:nvSpPr>
        <p:spPr>
          <a:xfrm>
            <a:off x="8050220" y="8133399"/>
            <a:ext cx="9811206" cy="1519546"/>
          </a:xfrm>
          <a:custGeom>
            <a:avLst/>
            <a:gdLst/>
            <a:ahLst/>
            <a:cxnLst/>
            <a:rect l="l" t="t" r="r" b="b"/>
            <a:pathLst>
              <a:path w="9811206" h="1519546">
                <a:moveTo>
                  <a:pt x="0" y="0"/>
                </a:moveTo>
                <a:lnTo>
                  <a:pt x="9811206" y="0"/>
                </a:lnTo>
                <a:lnTo>
                  <a:pt x="9811206" y="1519546"/>
                </a:lnTo>
                <a:lnTo>
                  <a:pt x="0" y="1519546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</p:sp>
      <p:sp>
        <p:nvSpPr>
          <p:cNvPr id="41" name="Freeform 41"/>
          <p:cNvSpPr/>
          <p:nvPr/>
        </p:nvSpPr>
        <p:spPr>
          <a:xfrm>
            <a:off x="8268976" y="8352038"/>
            <a:ext cx="229694" cy="863627"/>
          </a:xfrm>
          <a:custGeom>
            <a:avLst/>
            <a:gdLst/>
            <a:ahLst/>
            <a:cxnLst/>
            <a:rect l="l" t="t" r="r" b="b"/>
            <a:pathLst>
              <a:path w="229694" h="863627">
                <a:moveTo>
                  <a:pt x="0" y="0"/>
                </a:moveTo>
                <a:lnTo>
                  <a:pt x="229694" y="0"/>
                </a:lnTo>
                <a:lnTo>
                  <a:pt x="229694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</p:sp>
      <p:sp>
        <p:nvSpPr>
          <p:cNvPr id="42" name="TextBox 42"/>
          <p:cNvSpPr txBox="1"/>
          <p:nvPr/>
        </p:nvSpPr>
        <p:spPr>
          <a:xfrm>
            <a:off x="8664034" y="8338327"/>
            <a:ext cx="6920065" cy="8265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47"/>
              </a:lnSpc>
            </a:pPr>
            <a:r>
              <a:rPr lang="en-US" sz="2575" b="1" spc="-25">
                <a:solidFill>
                  <a:srgbClr val="107D9D"/>
                </a:solidFill>
                <a:latin typeface="Roboto Bold"/>
                <a:ea typeface="Roboto Bold"/>
                <a:cs typeface="Roboto Bold"/>
                <a:sym typeface="Roboto Bold"/>
              </a:rPr>
              <a:t>our mission: </a:t>
            </a:r>
            <a:r>
              <a:rPr lang="en-US" sz="2575" spc="-25">
                <a:solidFill>
                  <a:srgbClr val="051B44"/>
                </a:solidFill>
                <a:latin typeface="Roboto"/>
                <a:ea typeface="Roboto"/>
                <a:cs typeface="Roboto"/>
                <a:sym typeface="Roboto"/>
              </a:rPr>
              <a:t> ensure every vital-sign reading</a:t>
            </a:r>
          </a:p>
          <a:p>
            <a:pPr algn="l">
              <a:lnSpc>
                <a:spcPts val="3347"/>
              </a:lnSpc>
            </a:pPr>
            <a:r>
              <a:rPr lang="en-US" sz="2575" spc="-25">
                <a:solidFill>
                  <a:srgbClr val="051B44"/>
                </a:solidFill>
                <a:latin typeface="Roboto"/>
                <a:ea typeface="Roboto"/>
                <a:cs typeface="Roboto"/>
                <a:sym typeface="Roboto"/>
              </a:rPr>
              <a:t>for children is accurate, reliable, and actionable.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99487E2-71BD-5C70-EBAA-B0C71C32D606}"/>
              </a:ext>
            </a:extLst>
          </p:cNvPr>
          <p:cNvSpPr txBox="1"/>
          <p:nvPr/>
        </p:nvSpPr>
        <p:spPr>
          <a:xfrm>
            <a:off x="1093861" y="8725745"/>
            <a:ext cx="485421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/>
              <a:t>HELLO WORLD 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66775" y="399850"/>
            <a:ext cx="13506076" cy="848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83"/>
              </a:lnSpc>
            </a:pPr>
            <a:r>
              <a:rPr lang="en-US" sz="5568" b="1" spc="-111">
                <a:solidFill>
                  <a:srgbClr val="051240"/>
                </a:solidFill>
                <a:latin typeface="Roboto Bold"/>
                <a:ea typeface="Roboto Bold"/>
                <a:cs typeface="Roboto Bold"/>
                <a:sym typeface="Roboto Bold"/>
              </a:rPr>
              <a:t>Why Are Pediatric Measurements Difficult?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98233" y="1315883"/>
            <a:ext cx="10360343" cy="4375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0"/>
              </a:lnSpc>
            </a:pPr>
            <a:r>
              <a:rPr lang="en-US" sz="2592" spc="-51">
                <a:solidFill>
                  <a:srgbClr val="051240"/>
                </a:solidFill>
                <a:latin typeface="Roboto"/>
                <a:ea typeface="Roboto"/>
                <a:cs typeface="Roboto"/>
                <a:sym typeface="Roboto"/>
              </a:rPr>
              <a:t>Key challenges that impact the reliability of vital-sign readings in children</a:t>
            </a:r>
          </a:p>
        </p:txBody>
      </p:sp>
      <p:sp>
        <p:nvSpPr>
          <p:cNvPr id="5" name="Freeform 5"/>
          <p:cNvSpPr/>
          <p:nvPr/>
        </p:nvSpPr>
        <p:spPr>
          <a:xfrm>
            <a:off x="207818" y="1924030"/>
            <a:ext cx="5676718" cy="7936623"/>
          </a:xfrm>
          <a:custGeom>
            <a:avLst/>
            <a:gdLst/>
            <a:ahLst/>
            <a:cxnLst/>
            <a:rect l="l" t="t" r="r" b="b"/>
            <a:pathLst>
              <a:path w="5676718" h="7936623">
                <a:moveTo>
                  <a:pt x="0" y="0"/>
                </a:moveTo>
                <a:lnTo>
                  <a:pt x="5676718" y="0"/>
                </a:lnTo>
                <a:lnTo>
                  <a:pt x="5676718" y="7936622"/>
                </a:lnTo>
                <a:lnTo>
                  <a:pt x="0" y="79366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778075" y="2658977"/>
            <a:ext cx="638945" cy="6698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37"/>
              </a:lnSpc>
            </a:pPr>
            <a:r>
              <a:rPr lang="en-US" sz="4447" b="1" spc="-89">
                <a:solidFill>
                  <a:srgbClr val="0F97B6"/>
                </a:solidFill>
                <a:latin typeface="Roboto Bold"/>
                <a:ea typeface="Roboto Bold"/>
                <a:cs typeface="Roboto Bold"/>
                <a:sym typeface="Roboto Bold"/>
              </a:rPr>
              <a:t>01</a:t>
            </a:r>
          </a:p>
        </p:txBody>
      </p:sp>
      <p:sp>
        <p:nvSpPr>
          <p:cNvPr id="7" name="Freeform 7"/>
          <p:cNvSpPr/>
          <p:nvPr/>
        </p:nvSpPr>
        <p:spPr>
          <a:xfrm>
            <a:off x="1739110" y="2569017"/>
            <a:ext cx="229694" cy="1082267"/>
          </a:xfrm>
          <a:custGeom>
            <a:avLst/>
            <a:gdLst/>
            <a:ahLst/>
            <a:cxnLst/>
            <a:rect l="l" t="t" r="r" b="b"/>
            <a:pathLst>
              <a:path w="229694" h="1082267">
                <a:moveTo>
                  <a:pt x="0" y="0"/>
                </a:moveTo>
                <a:lnTo>
                  <a:pt x="229694" y="0"/>
                </a:lnTo>
                <a:lnTo>
                  <a:pt x="229694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2111489" y="2580993"/>
            <a:ext cx="3163561" cy="4375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0"/>
              </a:lnSpc>
            </a:pPr>
            <a:r>
              <a:rPr lang="en-US" sz="2592" b="1" spc="-51">
                <a:solidFill>
                  <a:srgbClr val="051240"/>
                </a:solidFill>
                <a:latin typeface="Roboto Bold"/>
                <a:ea typeface="Roboto Bold"/>
                <a:cs typeface="Roboto Bold"/>
                <a:sym typeface="Roboto Bold"/>
              </a:rPr>
              <a:t>Movement and crying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143125" y="3045997"/>
            <a:ext cx="3214688" cy="3927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spc="-45">
                <a:solidFill>
                  <a:srgbClr val="051240"/>
                </a:solidFill>
                <a:latin typeface="Roboto"/>
                <a:ea typeface="Roboto"/>
                <a:cs typeface="Roboto"/>
                <a:sym typeface="Roboto"/>
              </a:rPr>
              <a:t>cause signal disturbances</a:t>
            </a:r>
          </a:p>
        </p:txBody>
      </p:sp>
      <p:sp>
        <p:nvSpPr>
          <p:cNvPr id="10" name="Freeform 10"/>
          <p:cNvSpPr/>
          <p:nvPr/>
        </p:nvSpPr>
        <p:spPr>
          <a:xfrm>
            <a:off x="645330" y="3640352"/>
            <a:ext cx="4801694" cy="437279"/>
          </a:xfrm>
          <a:custGeom>
            <a:avLst/>
            <a:gdLst/>
            <a:ahLst/>
            <a:cxnLst/>
            <a:rect l="l" t="t" r="r" b="b"/>
            <a:pathLst>
              <a:path w="4801694" h="437279">
                <a:moveTo>
                  <a:pt x="0" y="0"/>
                </a:moveTo>
                <a:lnTo>
                  <a:pt x="4801694" y="0"/>
                </a:lnTo>
                <a:lnTo>
                  <a:pt x="4801694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778075" y="4390973"/>
            <a:ext cx="638945" cy="6698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37"/>
              </a:lnSpc>
            </a:pPr>
            <a:r>
              <a:rPr lang="en-US" sz="4447" b="1" spc="-89">
                <a:solidFill>
                  <a:srgbClr val="0F97B6"/>
                </a:solidFill>
                <a:latin typeface="Roboto Bold"/>
                <a:ea typeface="Roboto Bold"/>
                <a:cs typeface="Roboto Bold"/>
                <a:sym typeface="Roboto Bold"/>
              </a:rPr>
              <a:t>02</a:t>
            </a:r>
          </a:p>
        </p:txBody>
      </p:sp>
      <p:sp>
        <p:nvSpPr>
          <p:cNvPr id="12" name="Freeform 12"/>
          <p:cNvSpPr/>
          <p:nvPr/>
        </p:nvSpPr>
        <p:spPr>
          <a:xfrm>
            <a:off x="1739110" y="4066699"/>
            <a:ext cx="229694" cy="1300906"/>
          </a:xfrm>
          <a:custGeom>
            <a:avLst/>
            <a:gdLst/>
            <a:ahLst/>
            <a:cxnLst/>
            <a:rect l="l" t="t" r="r" b="b"/>
            <a:pathLst>
              <a:path w="229694" h="1300906">
                <a:moveTo>
                  <a:pt x="0" y="0"/>
                </a:moveTo>
                <a:lnTo>
                  <a:pt x="229694" y="0"/>
                </a:lnTo>
                <a:lnTo>
                  <a:pt x="229694" y="1300907"/>
                </a:lnTo>
                <a:lnTo>
                  <a:pt x="0" y="130090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2113712" y="4297929"/>
            <a:ext cx="2941310" cy="4375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0"/>
              </a:lnSpc>
            </a:pPr>
            <a:r>
              <a:rPr lang="en-US" sz="2592" b="1" spc="-51">
                <a:solidFill>
                  <a:srgbClr val="051240"/>
                </a:solidFill>
                <a:latin typeface="Roboto Bold"/>
                <a:ea typeface="Roboto Bold"/>
                <a:cs typeface="Roboto Bold"/>
                <a:sym typeface="Roboto Bold"/>
              </a:rPr>
              <a:t>Poor sensor contact</a:t>
            </a:r>
          </a:p>
        </p:txBody>
      </p:sp>
      <p:sp>
        <p:nvSpPr>
          <p:cNvPr id="14" name="Freeform 14"/>
          <p:cNvSpPr/>
          <p:nvPr/>
        </p:nvSpPr>
        <p:spPr>
          <a:xfrm>
            <a:off x="645330" y="5356674"/>
            <a:ext cx="4801694" cy="218640"/>
          </a:xfrm>
          <a:custGeom>
            <a:avLst/>
            <a:gdLst/>
            <a:ahLst/>
            <a:cxnLst/>
            <a:rect l="l" t="t" r="r" b="b"/>
            <a:pathLst>
              <a:path w="4801694" h="218640">
                <a:moveTo>
                  <a:pt x="0" y="0"/>
                </a:moveTo>
                <a:lnTo>
                  <a:pt x="4801694" y="0"/>
                </a:lnTo>
                <a:lnTo>
                  <a:pt x="4801694" y="218639"/>
                </a:lnTo>
                <a:lnTo>
                  <a:pt x="0" y="21863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778075" y="6168153"/>
            <a:ext cx="638945" cy="6698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37"/>
              </a:lnSpc>
            </a:pPr>
            <a:r>
              <a:rPr lang="en-US" sz="4447" b="1" spc="-89">
                <a:solidFill>
                  <a:srgbClr val="0F97B6"/>
                </a:solidFill>
                <a:latin typeface="Roboto Bold"/>
                <a:ea typeface="Roboto Bold"/>
                <a:cs typeface="Roboto Bold"/>
                <a:sym typeface="Roboto Bold"/>
              </a:rPr>
              <a:t>03</a:t>
            </a:r>
          </a:p>
        </p:txBody>
      </p:sp>
      <p:sp>
        <p:nvSpPr>
          <p:cNvPr id="16" name="Freeform 16"/>
          <p:cNvSpPr/>
          <p:nvPr/>
        </p:nvSpPr>
        <p:spPr>
          <a:xfrm>
            <a:off x="1739110" y="5783021"/>
            <a:ext cx="229694" cy="1508614"/>
          </a:xfrm>
          <a:custGeom>
            <a:avLst/>
            <a:gdLst/>
            <a:ahLst/>
            <a:cxnLst/>
            <a:rect l="l" t="t" r="r" b="b"/>
            <a:pathLst>
              <a:path w="229694" h="1508614">
                <a:moveTo>
                  <a:pt x="0" y="0"/>
                </a:moveTo>
                <a:lnTo>
                  <a:pt x="229694" y="0"/>
                </a:lnTo>
                <a:lnTo>
                  <a:pt x="229694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2114599" y="5864257"/>
            <a:ext cx="2852575" cy="4375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0"/>
              </a:lnSpc>
            </a:pPr>
            <a:r>
              <a:rPr lang="en-US" sz="2592" b="1" spc="-51">
                <a:solidFill>
                  <a:srgbClr val="051240"/>
                </a:solidFill>
                <a:latin typeface="Roboto Bold"/>
                <a:ea typeface="Roboto Bold"/>
                <a:cs typeface="Roboto Bold"/>
                <a:sym typeface="Roboto Bold"/>
              </a:rPr>
              <a:t>Changing body size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143125" y="6343763"/>
            <a:ext cx="3214688" cy="785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spc="-45">
                <a:solidFill>
                  <a:srgbClr val="051240"/>
                </a:solidFill>
                <a:latin typeface="Roboto"/>
                <a:ea typeface="Roboto"/>
                <a:cs typeface="Roboto"/>
                <a:sym typeface="Roboto"/>
              </a:rPr>
              <a:t>complicates sensor positioning</a:t>
            </a:r>
          </a:p>
        </p:txBody>
      </p:sp>
      <p:sp>
        <p:nvSpPr>
          <p:cNvPr id="19" name="Freeform 19"/>
          <p:cNvSpPr/>
          <p:nvPr/>
        </p:nvSpPr>
        <p:spPr>
          <a:xfrm>
            <a:off x="645330" y="7280704"/>
            <a:ext cx="4801694" cy="229572"/>
          </a:xfrm>
          <a:custGeom>
            <a:avLst/>
            <a:gdLst/>
            <a:ahLst/>
            <a:cxnLst/>
            <a:rect l="l" t="t" r="r" b="b"/>
            <a:pathLst>
              <a:path w="4801694" h="229572">
                <a:moveTo>
                  <a:pt x="0" y="0"/>
                </a:moveTo>
                <a:lnTo>
                  <a:pt x="4801694" y="0"/>
                </a:lnTo>
                <a:lnTo>
                  <a:pt x="4801694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778075" y="7854967"/>
            <a:ext cx="638945" cy="6698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37"/>
              </a:lnSpc>
            </a:pPr>
            <a:r>
              <a:rPr lang="en-US" sz="4447" b="1" spc="-89">
                <a:solidFill>
                  <a:srgbClr val="0F97B6"/>
                </a:solidFill>
                <a:latin typeface="Roboto Bold"/>
                <a:ea typeface="Roboto Bold"/>
                <a:cs typeface="Roboto Bold"/>
                <a:sym typeface="Roboto Bold"/>
              </a:rPr>
              <a:t>04</a:t>
            </a:r>
          </a:p>
        </p:txBody>
      </p:sp>
      <p:sp>
        <p:nvSpPr>
          <p:cNvPr id="21" name="Freeform 21"/>
          <p:cNvSpPr/>
          <p:nvPr/>
        </p:nvSpPr>
        <p:spPr>
          <a:xfrm>
            <a:off x="1739110" y="7707051"/>
            <a:ext cx="229694" cy="1300906"/>
          </a:xfrm>
          <a:custGeom>
            <a:avLst/>
            <a:gdLst/>
            <a:ahLst/>
            <a:cxnLst/>
            <a:rect l="l" t="t" r="r" b="b"/>
            <a:pathLst>
              <a:path w="229694" h="1300906">
                <a:moveTo>
                  <a:pt x="0" y="0"/>
                </a:moveTo>
                <a:lnTo>
                  <a:pt x="229694" y="0"/>
                </a:lnTo>
                <a:lnTo>
                  <a:pt x="229694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2114289" y="7761923"/>
            <a:ext cx="2883640" cy="4375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0"/>
              </a:lnSpc>
            </a:pPr>
            <a:r>
              <a:rPr lang="en-US" sz="2592" b="1" spc="-51">
                <a:solidFill>
                  <a:srgbClr val="051240"/>
                </a:solidFill>
                <a:latin typeface="Roboto Bold"/>
                <a:ea typeface="Roboto Bold"/>
                <a:cs typeface="Roboto Bold"/>
                <a:sym typeface="Roboto Bold"/>
              </a:rPr>
              <a:t>Signal disturbances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143125" y="8241429"/>
            <a:ext cx="3214688" cy="785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spc="-45">
                <a:solidFill>
                  <a:srgbClr val="051240"/>
                </a:solidFill>
                <a:latin typeface="Roboto"/>
                <a:ea typeface="Roboto"/>
                <a:cs typeface="Roboto"/>
                <a:sym typeface="Roboto"/>
              </a:rPr>
              <a:t>noise, baseline drift, missing data</a:t>
            </a:r>
          </a:p>
        </p:txBody>
      </p:sp>
      <p:sp>
        <p:nvSpPr>
          <p:cNvPr id="24" name="Freeform 24"/>
          <p:cNvSpPr/>
          <p:nvPr/>
        </p:nvSpPr>
        <p:spPr>
          <a:xfrm>
            <a:off x="6092354" y="1924030"/>
            <a:ext cx="11769072" cy="2579949"/>
          </a:xfrm>
          <a:custGeom>
            <a:avLst/>
            <a:gdLst/>
            <a:ahLst/>
            <a:cxnLst/>
            <a:rect l="l" t="t" r="r" b="b"/>
            <a:pathLst>
              <a:path w="11769072" h="2579949">
                <a:moveTo>
                  <a:pt x="0" y="0"/>
                </a:moveTo>
                <a:lnTo>
                  <a:pt x="11769072" y="0"/>
                </a:lnTo>
                <a:lnTo>
                  <a:pt x="11769072" y="2579949"/>
                </a:lnTo>
                <a:lnTo>
                  <a:pt x="0" y="257994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6092354" y="1924030"/>
            <a:ext cx="1531292" cy="2579949"/>
          </a:xfrm>
          <a:custGeom>
            <a:avLst/>
            <a:gdLst/>
            <a:ahLst/>
            <a:cxnLst/>
            <a:rect l="l" t="t" r="r" b="b"/>
            <a:pathLst>
              <a:path w="1531292" h="2579949">
                <a:moveTo>
                  <a:pt x="0" y="0"/>
                </a:moveTo>
                <a:lnTo>
                  <a:pt x="1531292" y="0"/>
                </a:lnTo>
                <a:lnTo>
                  <a:pt x="1531292" y="2579949"/>
                </a:lnTo>
                <a:lnTo>
                  <a:pt x="0" y="257994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26" name="TextBox 26"/>
          <p:cNvSpPr txBox="1"/>
          <p:nvPr/>
        </p:nvSpPr>
        <p:spPr>
          <a:xfrm>
            <a:off x="6341598" y="2784999"/>
            <a:ext cx="1031196" cy="6972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5"/>
              </a:lnSpc>
            </a:pPr>
            <a:r>
              <a:rPr lang="en-US" sz="2337" b="1" spc="-46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CLEAN</a:t>
            </a:r>
          </a:p>
          <a:p>
            <a:pPr algn="ctr">
              <a:lnSpc>
                <a:spcPts val="2805"/>
              </a:lnSpc>
            </a:pPr>
            <a:r>
              <a:rPr lang="en-US" sz="2337" b="1" spc="-46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SIGNAL</a:t>
            </a:r>
          </a:p>
        </p:txBody>
      </p:sp>
      <p:sp>
        <p:nvSpPr>
          <p:cNvPr id="27" name="Freeform 27"/>
          <p:cNvSpPr/>
          <p:nvPr/>
        </p:nvSpPr>
        <p:spPr>
          <a:xfrm>
            <a:off x="7831464" y="2569017"/>
            <a:ext cx="9592450" cy="1082267"/>
          </a:xfrm>
          <a:custGeom>
            <a:avLst/>
            <a:gdLst/>
            <a:ahLst/>
            <a:cxnLst/>
            <a:rect l="l" t="t" r="r" b="b"/>
            <a:pathLst>
              <a:path w="9592450" h="1082267">
                <a:moveTo>
                  <a:pt x="0" y="0"/>
                </a:moveTo>
                <a:lnTo>
                  <a:pt x="9592450" y="0"/>
                </a:lnTo>
                <a:lnTo>
                  <a:pt x="9592450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28" name="TextBox 28"/>
          <p:cNvSpPr txBox="1"/>
          <p:nvPr/>
        </p:nvSpPr>
        <p:spPr>
          <a:xfrm>
            <a:off x="9831033" y="3680608"/>
            <a:ext cx="5413151" cy="3454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5"/>
              </a:lnSpc>
            </a:pPr>
            <a:r>
              <a:rPr lang="en-US" sz="2003" spc="-40">
                <a:solidFill>
                  <a:srgbClr val="051240"/>
                </a:solidFill>
                <a:latin typeface="Roboto"/>
                <a:ea typeface="Roboto"/>
                <a:cs typeface="Roboto"/>
                <a:sym typeface="Roboto"/>
              </a:rPr>
              <a:t>Stable baseline • Clear peaks • Consistent rhythm</a:t>
            </a:r>
          </a:p>
        </p:txBody>
      </p:sp>
      <p:sp>
        <p:nvSpPr>
          <p:cNvPr id="29" name="Freeform 29"/>
          <p:cNvSpPr/>
          <p:nvPr/>
        </p:nvSpPr>
        <p:spPr>
          <a:xfrm>
            <a:off x="6092354" y="4285339"/>
            <a:ext cx="11769072" cy="3006296"/>
          </a:xfrm>
          <a:custGeom>
            <a:avLst/>
            <a:gdLst/>
            <a:ahLst/>
            <a:cxnLst/>
            <a:rect l="l" t="t" r="r" b="b"/>
            <a:pathLst>
              <a:path w="11769072" h="3006296">
                <a:moveTo>
                  <a:pt x="0" y="0"/>
                </a:moveTo>
                <a:lnTo>
                  <a:pt x="11769072" y="0"/>
                </a:lnTo>
                <a:lnTo>
                  <a:pt x="11769072" y="3006296"/>
                </a:lnTo>
                <a:lnTo>
                  <a:pt x="0" y="3006296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30" name="Freeform 30"/>
          <p:cNvSpPr/>
          <p:nvPr/>
        </p:nvSpPr>
        <p:spPr>
          <a:xfrm>
            <a:off x="6092354" y="4285339"/>
            <a:ext cx="1531292" cy="3006296"/>
          </a:xfrm>
          <a:custGeom>
            <a:avLst/>
            <a:gdLst/>
            <a:ahLst/>
            <a:cxnLst/>
            <a:rect l="l" t="t" r="r" b="b"/>
            <a:pathLst>
              <a:path w="1531292" h="3006296">
                <a:moveTo>
                  <a:pt x="0" y="0"/>
                </a:moveTo>
                <a:lnTo>
                  <a:pt x="1531292" y="0"/>
                </a:lnTo>
                <a:lnTo>
                  <a:pt x="1531292" y="3006296"/>
                </a:lnTo>
                <a:lnTo>
                  <a:pt x="0" y="3006296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31" name="TextBox 31"/>
          <p:cNvSpPr txBox="1"/>
          <p:nvPr/>
        </p:nvSpPr>
        <p:spPr>
          <a:xfrm>
            <a:off x="6341598" y="5450768"/>
            <a:ext cx="1031196" cy="6972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5"/>
              </a:lnSpc>
            </a:pPr>
            <a:r>
              <a:rPr lang="en-US" sz="2337" b="1" spc="-46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NOISY</a:t>
            </a:r>
          </a:p>
          <a:p>
            <a:pPr algn="ctr">
              <a:lnSpc>
                <a:spcPts val="2805"/>
              </a:lnSpc>
            </a:pPr>
            <a:r>
              <a:rPr lang="en-US" sz="2337" b="1" spc="-46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SIGNAL</a:t>
            </a:r>
          </a:p>
        </p:txBody>
      </p:sp>
      <p:sp>
        <p:nvSpPr>
          <p:cNvPr id="32" name="Freeform 32"/>
          <p:cNvSpPr/>
          <p:nvPr/>
        </p:nvSpPr>
        <p:spPr>
          <a:xfrm>
            <a:off x="7831464" y="4711687"/>
            <a:ext cx="1750048" cy="1727254"/>
          </a:xfrm>
          <a:custGeom>
            <a:avLst/>
            <a:gdLst/>
            <a:ahLst/>
            <a:cxnLst/>
            <a:rect l="l" t="t" r="r" b="b"/>
            <a:pathLst>
              <a:path w="1750048" h="1727254">
                <a:moveTo>
                  <a:pt x="0" y="0"/>
                </a:moveTo>
                <a:lnTo>
                  <a:pt x="1750048" y="0"/>
                </a:lnTo>
                <a:lnTo>
                  <a:pt x="1750048" y="1727253"/>
                </a:lnTo>
                <a:lnTo>
                  <a:pt x="0" y="1727253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33" name="Freeform 33"/>
          <p:cNvSpPr/>
          <p:nvPr/>
        </p:nvSpPr>
        <p:spPr>
          <a:xfrm>
            <a:off x="10445598" y="4711687"/>
            <a:ext cx="1750048" cy="1727254"/>
          </a:xfrm>
          <a:custGeom>
            <a:avLst/>
            <a:gdLst/>
            <a:ahLst/>
            <a:cxnLst/>
            <a:rect l="l" t="t" r="r" b="b"/>
            <a:pathLst>
              <a:path w="1750048" h="1727254">
                <a:moveTo>
                  <a:pt x="0" y="0"/>
                </a:moveTo>
                <a:lnTo>
                  <a:pt x="1750048" y="0"/>
                </a:lnTo>
                <a:lnTo>
                  <a:pt x="1750048" y="1727253"/>
                </a:lnTo>
                <a:lnTo>
                  <a:pt x="0" y="1727253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</p:sp>
      <p:sp>
        <p:nvSpPr>
          <p:cNvPr id="34" name="TextBox 34"/>
          <p:cNvSpPr txBox="1"/>
          <p:nvPr/>
        </p:nvSpPr>
        <p:spPr>
          <a:xfrm>
            <a:off x="10622342" y="6644564"/>
            <a:ext cx="1301527" cy="2498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88"/>
              </a:lnSpc>
            </a:pPr>
            <a:r>
              <a:rPr lang="en-US" sz="1740" b="1" spc="-34">
                <a:solidFill>
                  <a:srgbClr val="D18226"/>
                </a:solidFill>
                <a:latin typeface="Roboto Bold"/>
                <a:ea typeface="Roboto Bold"/>
                <a:cs typeface="Roboto Bold"/>
                <a:sym typeface="Roboto Bold"/>
              </a:rPr>
              <a:t>Baseline drift</a:t>
            </a:r>
          </a:p>
        </p:txBody>
      </p:sp>
      <p:sp>
        <p:nvSpPr>
          <p:cNvPr id="35" name="Freeform 35"/>
          <p:cNvSpPr/>
          <p:nvPr/>
        </p:nvSpPr>
        <p:spPr>
          <a:xfrm>
            <a:off x="13278488" y="4711687"/>
            <a:ext cx="1968804" cy="1727254"/>
          </a:xfrm>
          <a:custGeom>
            <a:avLst/>
            <a:gdLst/>
            <a:ahLst/>
            <a:cxnLst/>
            <a:rect l="l" t="t" r="r" b="b"/>
            <a:pathLst>
              <a:path w="1968804" h="1727254">
                <a:moveTo>
                  <a:pt x="0" y="0"/>
                </a:moveTo>
                <a:lnTo>
                  <a:pt x="1968804" y="0"/>
                </a:lnTo>
                <a:lnTo>
                  <a:pt x="1968804" y="1727253"/>
                </a:lnTo>
                <a:lnTo>
                  <a:pt x="0" y="1727253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</p:sp>
      <p:sp>
        <p:nvSpPr>
          <p:cNvPr id="36" name="TextBox 36"/>
          <p:cNvSpPr txBox="1"/>
          <p:nvPr/>
        </p:nvSpPr>
        <p:spPr>
          <a:xfrm>
            <a:off x="13521755" y="6644564"/>
            <a:ext cx="1476126" cy="2498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88"/>
              </a:lnSpc>
            </a:pPr>
            <a:r>
              <a:rPr lang="en-US" sz="1740" b="1" spc="-34">
                <a:solidFill>
                  <a:srgbClr val="D18226"/>
                </a:solidFill>
                <a:latin typeface="Roboto Bold"/>
                <a:ea typeface="Roboto Bold"/>
                <a:cs typeface="Roboto Bold"/>
                <a:sym typeface="Roboto Bold"/>
              </a:rPr>
              <a:t>Irregular peaks</a:t>
            </a:r>
          </a:p>
        </p:txBody>
      </p:sp>
      <p:sp>
        <p:nvSpPr>
          <p:cNvPr id="37" name="Freeform 37"/>
          <p:cNvSpPr/>
          <p:nvPr/>
        </p:nvSpPr>
        <p:spPr>
          <a:xfrm>
            <a:off x="15673866" y="5138034"/>
            <a:ext cx="1750048" cy="1300906"/>
          </a:xfrm>
          <a:custGeom>
            <a:avLst/>
            <a:gdLst/>
            <a:ahLst/>
            <a:cxnLst/>
            <a:rect l="l" t="t" r="r" b="b"/>
            <a:pathLst>
              <a:path w="1750048" h="1300906">
                <a:moveTo>
                  <a:pt x="0" y="0"/>
                </a:moveTo>
                <a:lnTo>
                  <a:pt x="1750048" y="0"/>
                </a:lnTo>
                <a:lnTo>
                  <a:pt x="1750048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</p:sp>
      <p:sp>
        <p:nvSpPr>
          <p:cNvPr id="38" name="TextBox 38"/>
          <p:cNvSpPr txBox="1"/>
          <p:nvPr/>
        </p:nvSpPr>
        <p:spPr>
          <a:xfrm>
            <a:off x="15947039" y="6644564"/>
            <a:ext cx="1262745" cy="2498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88"/>
              </a:lnSpc>
            </a:pPr>
            <a:r>
              <a:rPr lang="en-US" sz="1740" b="1" spc="-34">
                <a:solidFill>
                  <a:srgbClr val="D18226"/>
                </a:solidFill>
                <a:latin typeface="Roboto Bold"/>
                <a:ea typeface="Roboto Bold"/>
                <a:cs typeface="Roboto Bold"/>
                <a:sym typeface="Roboto Bold"/>
              </a:rPr>
              <a:t>Missing data</a:t>
            </a:r>
          </a:p>
        </p:txBody>
      </p:sp>
      <p:sp>
        <p:nvSpPr>
          <p:cNvPr id="39" name="Freeform 39"/>
          <p:cNvSpPr/>
          <p:nvPr/>
        </p:nvSpPr>
        <p:spPr>
          <a:xfrm>
            <a:off x="7831464" y="4919394"/>
            <a:ext cx="9811206" cy="1519546"/>
          </a:xfrm>
          <a:custGeom>
            <a:avLst/>
            <a:gdLst/>
            <a:ahLst/>
            <a:cxnLst/>
            <a:rect l="l" t="t" r="r" b="b"/>
            <a:pathLst>
              <a:path w="9811206" h="1519546">
                <a:moveTo>
                  <a:pt x="0" y="0"/>
                </a:moveTo>
                <a:lnTo>
                  <a:pt x="9811206" y="0"/>
                </a:lnTo>
                <a:lnTo>
                  <a:pt x="9811206" y="1519546"/>
                </a:lnTo>
                <a:lnTo>
                  <a:pt x="0" y="1519546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</p:sp>
      <p:sp>
        <p:nvSpPr>
          <p:cNvPr id="40" name="Freeform 40"/>
          <p:cNvSpPr/>
          <p:nvPr/>
        </p:nvSpPr>
        <p:spPr>
          <a:xfrm>
            <a:off x="6092354" y="7280704"/>
            <a:ext cx="11769072" cy="2579949"/>
          </a:xfrm>
          <a:custGeom>
            <a:avLst/>
            <a:gdLst/>
            <a:ahLst/>
            <a:cxnLst/>
            <a:rect l="l" t="t" r="r" b="b"/>
            <a:pathLst>
              <a:path w="11769072" h="2579949">
                <a:moveTo>
                  <a:pt x="0" y="0"/>
                </a:moveTo>
                <a:lnTo>
                  <a:pt x="11769072" y="0"/>
                </a:lnTo>
                <a:lnTo>
                  <a:pt x="11769072" y="2579948"/>
                </a:lnTo>
                <a:lnTo>
                  <a:pt x="0" y="2579948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/>
            </a:stretch>
          </a:blipFill>
        </p:spPr>
      </p:sp>
      <p:sp>
        <p:nvSpPr>
          <p:cNvPr id="41" name="TextBox 41"/>
          <p:cNvSpPr txBox="1"/>
          <p:nvPr/>
        </p:nvSpPr>
        <p:spPr>
          <a:xfrm>
            <a:off x="6634126" y="7734480"/>
            <a:ext cx="3635046" cy="15623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77"/>
              </a:lnSpc>
            </a:pPr>
            <a:r>
              <a:rPr lang="en-US" sz="3480" b="1" spc="-69">
                <a:solidFill>
                  <a:srgbClr val="051240"/>
                </a:solidFill>
                <a:latin typeface="Roboto Bold"/>
                <a:ea typeface="Roboto Bold"/>
                <a:cs typeface="Roboto Bold"/>
                <a:sym typeface="Roboto Bold"/>
              </a:rPr>
              <a:t>Not all displayed vital-sign readings are </a:t>
            </a:r>
            <a:r>
              <a:rPr lang="en-US" sz="3480" b="1" spc="-69">
                <a:solidFill>
                  <a:srgbClr val="0F97B6"/>
                </a:solidFill>
                <a:latin typeface="Roboto Bold"/>
                <a:ea typeface="Roboto Bold"/>
                <a:cs typeface="Roboto Bold"/>
                <a:sym typeface="Roboto Bold"/>
              </a:rPr>
              <a:t>reliable</a:t>
            </a:r>
            <a:r>
              <a:rPr lang="en-US" sz="3480" b="1" spc="-69">
                <a:solidFill>
                  <a:srgbClr val="051240"/>
                </a:solidFill>
                <a:latin typeface="Roboto Bold"/>
                <a:ea typeface="Roboto Bold"/>
                <a:cs typeface="Roboto Bold"/>
                <a:sym typeface="Roboto Bold"/>
              </a:rPr>
              <a:t>.</a:t>
            </a:r>
          </a:p>
        </p:txBody>
      </p:sp>
      <p:sp>
        <p:nvSpPr>
          <p:cNvPr id="42" name="Freeform 42"/>
          <p:cNvSpPr/>
          <p:nvPr/>
        </p:nvSpPr>
        <p:spPr>
          <a:xfrm>
            <a:off x="10883110" y="7707051"/>
            <a:ext cx="229694" cy="1727254"/>
          </a:xfrm>
          <a:custGeom>
            <a:avLst/>
            <a:gdLst/>
            <a:ahLst/>
            <a:cxnLst/>
            <a:rect l="l" t="t" r="r" b="b"/>
            <a:pathLst>
              <a:path w="229694" h="1727254">
                <a:moveTo>
                  <a:pt x="0" y="0"/>
                </a:moveTo>
                <a:lnTo>
                  <a:pt x="229694" y="0"/>
                </a:lnTo>
                <a:lnTo>
                  <a:pt x="229694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/>
            </a:stretch>
          </a:blipFill>
        </p:spPr>
      </p:sp>
      <p:sp>
        <p:nvSpPr>
          <p:cNvPr id="43" name="TextBox 43"/>
          <p:cNvSpPr txBox="1"/>
          <p:nvPr/>
        </p:nvSpPr>
        <p:spPr>
          <a:xfrm>
            <a:off x="11658196" y="7905685"/>
            <a:ext cx="2183508" cy="3581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5"/>
              </a:lnSpc>
            </a:pPr>
            <a:r>
              <a:rPr lang="en-US" sz="2337" b="1" spc="-46">
                <a:solidFill>
                  <a:srgbClr val="0F97B6"/>
                </a:solidFill>
                <a:latin typeface="Roboto Bold"/>
                <a:ea typeface="Roboto Bold"/>
                <a:cs typeface="Roboto Bold"/>
                <a:sym typeface="Roboto Bold"/>
              </a:rPr>
              <a:t>OUR OBJECTIVE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1629983" y="8349501"/>
            <a:ext cx="5004838" cy="8171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1"/>
              </a:lnSpc>
            </a:pPr>
            <a:r>
              <a:rPr lang="en-US" sz="2408" spc="-48">
                <a:solidFill>
                  <a:srgbClr val="051240"/>
                </a:solidFill>
                <a:latin typeface="Roboto"/>
                <a:ea typeface="Roboto"/>
                <a:cs typeface="Roboto"/>
                <a:sym typeface="Roboto"/>
              </a:rPr>
              <a:t>Identify potentially unreliable readings and reasons for review.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2143125" y="4777993"/>
            <a:ext cx="3214688" cy="3927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spc="-45">
                <a:solidFill>
                  <a:srgbClr val="051240"/>
                </a:solidFill>
                <a:latin typeface="Roboto"/>
                <a:ea typeface="Roboto"/>
                <a:cs typeface="Roboto"/>
                <a:sym typeface="Roboto"/>
              </a:rPr>
              <a:t>degrades signal quality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8231865" y="6644564"/>
            <a:ext cx="1046138" cy="2498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88"/>
              </a:lnSpc>
            </a:pPr>
            <a:r>
              <a:rPr lang="en-US" sz="1740" b="1" spc="-34">
                <a:solidFill>
                  <a:srgbClr val="D18226"/>
                </a:solidFill>
                <a:latin typeface="Roboto Bold"/>
                <a:ea typeface="Roboto Bold"/>
                <a:cs typeface="Roboto Bold"/>
                <a:sym typeface="Roboto Bold"/>
              </a:rPr>
              <a:t>High noise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57041" y="445033"/>
            <a:ext cx="15195083" cy="9375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47"/>
              </a:lnSpc>
            </a:pPr>
            <a:r>
              <a:rPr lang="en-US" sz="6205" b="1" spc="-60">
                <a:solidFill>
                  <a:srgbClr val="0B204F"/>
                </a:solidFill>
                <a:latin typeface="Roboto Bold"/>
                <a:ea typeface="Roboto Bold"/>
                <a:cs typeface="Roboto Bold"/>
                <a:sym typeface="Roboto Bold"/>
              </a:rPr>
              <a:t>From Measurement to a Reliable Next Step</a:t>
            </a:r>
          </a:p>
        </p:txBody>
      </p:sp>
      <p:sp>
        <p:nvSpPr>
          <p:cNvPr id="4" name="Freeform 4"/>
          <p:cNvSpPr/>
          <p:nvPr/>
        </p:nvSpPr>
        <p:spPr>
          <a:xfrm>
            <a:off x="426574" y="1924030"/>
            <a:ext cx="2187560" cy="5148966"/>
          </a:xfrm>
          <a:custGeom>
            <a:avLst/>
            <a:gdLst/>
            <a:ahLst/>
            <a:cxnLst/>
            <a:rect l="l" t="t" r="r" b="b"/>
            <a:pathLst>
              <a:path w="2187560" h="5148966">
                <a:moveTo>
                  <a:pt x="0" y="0"/>
                </a:moveTo>
                <a:lnTo>
                  <a:pt x="2187560" y="0"/>
                </a:lnTo>
                <a:lnTo>
                  <a:pt x="2187560" y="5148966"/>
                </a:lnTo>
                <a:lnTo>
                  <a:pt x="0" y="51489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248630" y="2229129"/>
            <a:ext cx="457573" cy="5244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84"/>
              </a:lnSpc>
            </a:pPr>
            <a:r>
              <a:rPr lang="en-US" sz="3219" b="1" spc="-95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01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53658" y="3121909"/>
            <a:ext cx="1606816" cy="6801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1"/>
              </a:lnSpc>
            </a:pPr>
            <a:r>
              <a:rPr lang="en-US" sz="2109" b="1" spc="-62">
                <a:solidFill>
                  <a:srgbClr val="0B204F"/>
                </a:solidFill>
                <a:latin typeface="Roboto Bold"/>
                <a:ea typeface="Roboto Bold"/>
                <a:cs typeface="Roboto Bold"/>
                <a:sym typeface="Roboto Bold"/>
              </a:rPr>
              <a:t>Capture</a:t>
            </a:r>
          </a:p>
          <a:p>
            <a:pPr algn="l">
              <a:lnSpc>
                <a:spcPts val="2741"/>
              </a:lnSpc>
            </a:pPr>
            <a:r>
              <a:rPr lang="en-US" sz="2109" b="1" spc="-62">
                <a:solidFill>
                  <a:srgbClr val="0B204F"/>
                </a:solidFill>
                <a:latin typeface="Roboto Bold"/>
                <a:ea typeface="Roboto Bold"/>
                <a:cs typeface="Roboto Bold"/>
                <a:sym typeface="Roboto Bold"/>
              </a:rPr>
              <a:t>measurement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54998" y="4189456"/>
            <a:ext cx="1472852" cy="1334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83"/>
              </a:lnSpc>
            </a:pPr>
            <a:r>
              <a:rPr lang="en-US" sz="1740" spc="-51">
                <a:solidFill>
                  <a:srgbClr val="0B204F"/>
                </a:solidFill>
                <a:latin typeface="Roboto"/>
                <a:ea typeface="Roboto"/>
                <a:cs typeface="Roboto"/>
                <a:sym typeface="Roboto"/>
              </a:rPr>
              <a:t>via physical</a:t>
            </a:r>
          </a:p>
          <a:p>
            <a:pPr algn="l">
              <a:lnSpc>
                <a:spcPts val="2783"/>
              </a:lnSpc>
            </a:pPr>
            <a:r>
              <a:rPr lang="en-US" sz="1740" spc="-51">
                <a:solidFill>
                  <a:srgbClr val="0B204F"/>
                </a:solidFill>
                <a:latin typeface="Roboto"/>
                <a:ea typeface="Roboto"/>
                <a:cs typeface="Roboto"/>
                <a:sym typeface="Roboto"/>
              </a:rPr>
              <a:t>device with age-appropriate protocol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54018" y="5855968"/>
            <a:ext cx="1570855" cy="6259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9"/>
              </a:lnSpc>
            </a:pPr>
            <a:r>
              <a:rPr lang="en-US" sz="1643" spc="-48">
                <a:solidFill>
                  <a:srgbClr val="0B204F"/>
                </a:solidFill>
                <a:latin typeface="Roboto"/>
                <a:ea typeface="Roboto"/>
                <a:cs typeface="Roboto"/>
                <a:sym typeface="Roboto"/>
              </a:rPr>
              <a:t>motion &amp; contact</a:t>
            </a:r>
          </a:p>
          <a:p>
            <a:pPr algn="l">
              <a:lnSpc>
                <a:spcPts val="2629"/>
              </a:lnSpc>
            </a:pPr>
            <a:r>
              <a:rPr lang="en-US" sz="1643" spc="-48">
                <a:solidFill>
                  <a:srgbClr val="0B204F"/>
                </a:solidFill>
                <a:latin typeface="Roboto"/>
                <a:ea typeface="Roboto"/>
                <a:cs typeface="Roboto"/>
                <a:sym typeface="Roboto"/>
              </a:rPr>
              <a:t>sensors</a:t>
            </a:r>
          </a:p>
        </p:txBody>
      </p:sp>
      <p:sp>
        <p:nvSpPr>
          <p:cNvPr id="9" name="Freeform 9"/>
          <p:cNvSpPr/>
          <p:nvPr/>
        </p:nvSpPr>
        <p:spPr>
          <a:xfrm>
            <a:off x="2603196" y="1924030"/>
            <a:ext cx="2187560" cy="5148966"/>
          </a:xfrm>
          <a:custGeom>
            <a:avLst/>
            <a:gdLst/>
            <a:ahLst/>
            <a:cxnLst/>
            <a:rect l="l" t="t" r="r" b="b"/>
            <a:pathLst>
              <a:path w="2187560" h="5148966">
                <a:moveTo>
                  <a:pt x="0" y="0"/>
                </a:moveTo>
                <a:lnTo>
                  <a:pt x="2187560" y="0"/>
                </a:lnTo>
                <a:lnTo>
                  <a:pt x="2187560" y="5148966"/>
                </a:lnTo>
                <a:lnTo>
                  <a:pt x="0" y="51489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3445333" y="2229129"/>
            <a:ext cx="457573" cy="5244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84"/>
              </a:lnSpc>
            </a:pPr>
            <a:r>
              <a:rPr lang="en-US" sz="3219" b="1" spc="-95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02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903940" y="3121909"/>
            <a:ext cx="1606816" cy="10192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1"/>
              </a:lnSpc>
            </a:pPr>
            <a:r>
              <a:rPr lang="en-US" sz="2109" b="1" spc="-62">
                <a:solidFill>
                  <a:srgbClr val="0B204F"/>
                </a:solidFill>
                <a:latin typeface="Roboto Bold"/>
                <a:ea typeface="Roboto Bold"/>
                <a:cs typeface="Roboto Bold"/>
                <a:sym typeface="Roboto Bold"/>
              </a:rPr>
              <a:t>Check</a:t>
            </a:r>
          </a:p>
          <a:p>
            <a:pPr algn="l">
              <a:lnSpc>
                <a:spcPts val="2741"/>
              </a:lnSpc>
            </a:pPr>
            <a:r>
              <a:rPr lang="en-US" sz="2109" b="1" spc="-62">
                <a:solidFill>
                  <a:srgbClr val="0B204F"/>
                </a:solidFill>
                <a:latin typeface="Roboto Bold"/>
                <a:ea typeface="Roboto Bold"/>
                <a:cs typeface="Roboto Bold"/>
                <a:sym typeface="Roboto Bold"/>
              </a:rPr>
              <a:t>measurement</a:t>
            </a:r>
          </a:p>
          <a:p>
            <a:pPr algn="l">
              <a:lnSpc>
                <a:spcPts val="2741"/>
              </a:lnSpc>
            </a:pPr>
            <a:r>
              <a:rPr lang="en-US" sz="2109" b="1" spc="-62">
                <a:solidFill>
                  <a:srgbClr val="0B204F"/>
                </a:solidFill>
                <a:latin typeface="Roboto Bold"/>
                <a:ea typeface="Roboto Bold"/>
                <a:cs typeface="Roboto Bold"/>
                <a:sym typeface="Roboto Bold"/>
              </a:rPr>
              <a:t>conditions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904439" y="4641060"/>
            <a:ext cx="1556909" cy="15897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9"/>
              </a:lnSpc>
            </a:pPr>
            <a:r>
              <a:rPr lang="en-US" sz="1643" spc="-48">
                <a:solidFill>
                  <a:srgbClr val="0B204F"/>
                </a:solidFill>
                <a:latin typeface="Roboto"/>
                <a:ea typeface="Roboto"/>
                <a:cs typeface="Roboto"/>
                <a:sym typeface="Roboto"/>
              </a:rPr>
              <a:t>motion</a:t>
            </a:r>
          </a:p>
          <a:p>
            <a:pPr algn="l">
              <a:lnSpc>
                <a:spcPts val="2629"/>
              </a:lnSpc>
            </a:pPr>
            <a:r>
              <a:rPr lang="en-US" sz="1643" spc="-48">
                <a:solidFill>
                  <a:srgbClr val="0B204F"/>
                </a:solidFill>
                <a:latin typeface="Roboto"/>
                <a:ea typeface="Roboto"/>
                <a:cs typeface="Roboto"/>
                <a:sym typeface="Roboto"/>
              </a:rPr>
              <a:t>contact</a:t>
            </a:r>
          </a:p>
          <a:p>
            <a:pPr algn="l">
              <a:lnSpc>
                <a:spcPts val="2629"/>
              </a:lnSpc>
            </a:pPr>
            <a:r>
              <a:rPr lang="en-US" sz="1643" spc="-48">
                <a:solidFill>
                  <a:srgbClr val="0B204F"/>
                </a:solidFill>
                <a:latin typeface="Roboto"/>
                <a:ea typeface="Roboto"/>
                <a:cs typeface="Roboto"/>
                <a:sym typeface="Roboto"/>
              </a:rPr>
              <a:t>missing samples</a:t>
            </a:r>
          </a:p>
          <a:p>
            <a:pPr algn="l">
              <a:lnSpc>
                <a:spcPts val="2629"/>
              </a:lnSpc>
            </a:pPr>
            <a:r>
              <a:rPr lang="en-US" sz="1643" spc="-48">
                <a:solidFill>
                  <a:srgbClr val="0B204F"/>
                </a:solidFill>
                <a:latin typeface="Roboto"/>
                <a:ea typeface="Roboto"/>
                <a:cs typeface="Roboto"/>
                <a:sym typeface="Roboto"/>
              </a:rPr>
              <a:t>signal</a:t>
            </a:r>
          </a:p>
          <a:p>
            <a:pPr algn="l">
              <a:lnSpc>
                <a:spcPts val="2629"/>
              </a:lnSpc>
            </a:pPr>
            <a:r>
              <a:rPr lang="en-US" sz="1643" spc="-48">
                <a:solidFill>
                  <a:srgbClr val="0B204F"/>
                </a:solidFill>
                <a:latin typeface="Roboto"/>
                <a:ea typeface="Roboto"/>
                <a:cs typeface="Roboto"/>
                <a:sym typeface="Roboto"/>
              </a:rPr>
              <a:t>interruptions</a:t>
            </a:r>
          </a:p>
        </p:txBody>
      </p:sp>
      <p:sp>
        <p:nvSpPr>
          <p:cNvPr id="13" name="Freeform 13"/>
          <p:cNvSpPr/>
          <p:nvPr/>
        </p:nvSpPr>
        <p:spPr>
          <a:xfrm>
            <a:off x="4779818" y="1924030"/>
            <a:ext cx="1979742" cy="5148966"/>
          </a:xfrm>
          <a:custGeom>
            <a:avLst/>
            <a:gdLst/>
            <a:ahLst/>
            <a:cxnLst/>
            <a:rect l="l" t="t" r="r" b="b"/>
            <a:pathLst>
              <a:path w="1979742" h="5148966">
                <a:moveTo>
                  <a:pt x="0" y="0"/>
                </a:moveTo>
                <a:lnTo>
                  <a:pt x="1979742" y="0"/>
                </a:lnTo>
                <a:lnTo>
                  <a:pt x="1979742" y="5148966"/>
                </a:lnTo>
                <a:lnTo>
                  <a:pt x="0" y="514896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5588458" y="2229129"/>
            <a:ext cx="457573" cy="5244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84"/>
              </a:lnSpc>
            </a:pPr>
            <a:r>
              <a:rPr lang="en-US" sz="3219" b="1" spc="-95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03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106298" y="3121829"/>
            <a:ext cx="1041254" cy="748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84"/>
              </a:lnSpc>
            </a:pPr>
            <a:r>
              <a:rPr lang="en-US" sz="2373" b="1" spc="-70">
                <a:solidFill>
                  <a:srgbClr val="0B204F"/>
                </a:solidFill>
                <a:latin typeface="Roboto Bold"/>
                <a:ea typeface="Roboto Bold"/>
                <a:cs typeface="Roboto Bold"/>
                <a:sym typeface="Roboto Bold"/>
              </a:rPr>
              <a:t>Analyze</a:t>
            </a:r>
          </a:p>
          <a:p>
            <a:pPr algn="l">
              <a:lnSpc>
                <a:spcPts val="3084"/>
              </a:lnSpc>
            </a:pPr>
            <a:r>
              <a:rPr lang="en-US" sz="2373" b="1" spc="-70">
                <a:solidFill>
                  <a:srgbClr val="0B204F"/>
                </a:solidFill>
                <a:latin typeface="Roboto Bold"/>
                <a:ea typeface="Roboto Bold"/>
                <a:cs typeface="Roboto Bold"/>
                <a:sym typeface="Roboto Bold"/>
              </a:rPr>
              <a:t>signal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104248" y="4188032"/>
            <a:ext cx="1246279" cy="1778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10"/>
              </a:lnSpc>
            </a:pPr>
            <a:r>
              <a:rPr lang="en-US" sz="1819" spc="-54">
                <a:solidFill>
                  <a:srgbClr val="0B204F"/>
                </a:solidFill>
                <a:latin typeface="Roboto"/>
                <a:ea typeface="Roboto"/>
                <a:cs typeface="Roboto"/>
                <a:sym typeface="Roboto"/>
              </a:rPr>
              <a:t>noise</a:t>
            </a:r>
          </a:p>
          <a:p>
            <a:pPr algn="l">
              <a:lnSpc>
                <a:spcPts val="2910"/>
              </a:lnSpc>
            </a:pPr>
            <a:r>
              <a:rPr lang="en-US" sz="1819" spc="-54">
                <a:solidFill>
                  <a:srgbClr val="0B204F"/>
                </a:solidFill>
                <a:latin typeface="Roboto"/>
                <a:ea typeface="Roboto"/>
                <a:cs typeface="Roboto"/>
                <a:sym typeface="Roboto"/>
              </a:rPr>
              <a:t>baseline drift</a:t>
            </a:r>
          </a:p>
          <a:p>
            <a:pPr algn="l">
              <a:lnSpc>
                <a:spcPts val="2910"/>
              </a:lnSpc>
            </a:pPr>
            <a:r>
              <a:rPr lang="en-US" sz="1819" spc="-54">
                <a:solidFill>
                  <a:srgbClr val="0B204F"/>
                </a:solidFill>
                <a:latin typeface="Roboto"/>
                <a:ea typeface="Roboto"/>
                <a:cs typeface="Roboto"/>
                <a:sym typeface="Roboto"/>
              </a:rPr>
              <a:t>amplitude</a:t>
            </a:r>
          </a:p>
          <a:p>
            <a:pPr algn="l">
              <a:lnSpc>
                <a:spcPts val="2910"/>
              </a:lnSpc>
            </a:pPr>
            <a:r>
              <a:rPr lang="en-US" sz="1819" spc="-54">
                <a:solidFill>
                  <a:srgbClr val="0B204F"/>
                </a:solidFill>
                <a:latin typeface="Roboto"/>
                <a:ea typeface="Roboto"/>
                <a:cs typeface="Roboto"/>
                <a:sym typeface="Roboto"/>
              </a:rPr>
              <a:t>quality</a:t>
            </a:r>
          </a:p>
          <a:p>
            <a:pPr algn="l">
              <a:lnSpc>
                <a:spcPts val="2910"/>
              </a:lnSpc>
            </a:pPr>
            <a:r>
              <a:rPr lang="en-US" sz="1819" spc="-54">
                <a:solidFill>
                  <a:srgbClr val="0B204F"/>
                </a:solidFill>
                <a:latin typeface="Roboto"/>
                <a:ea typeface="Roboto"/>
                <a:cs typeface="Roboto"/>
                <a:sym typeface="Roboto"/>
              </a:rPr>
              <a:t>indicators</a:t>
            </a:r>
          </a:p>
        </p:txBody>
      </p:sp>
      <p:sp>
        <p:nvSpPr>
          <p:cNvPr id="17" name="Freeform 17"/>
          <p:cNvSpPr/>
          <p:nvPr/>
        </p:nvSpPr>
        <p:spPr>
          <a:xfrm>
            <a:off x="6956440" y="1924030"/>
            <a:ext cx="1979742" cy="5148966"/>
          </a:xfrm>
          <a:custGeom>
            <a:avLst/>
            <a:gdLst/>
            <a:ahLst/>
            <a:cxnLst/>
            <a:rect l="l" t="t" r="r" b="b"/>
            <a:pathLst>
              <a:path w="1979742" h="5148966">
                <a:moveTo>
                  <a:pt x="0" y="0"/>
                </a:moveTo>
                <a:lnTo>
                  <a:pt x="1979742" y="0"/>
                </a:lnTo>
                <a:lnTo>
                  <a:pt x="1979742" y="5148966"/>
                </a:lnTo>
                <a:lnTo>
                  <a:pt x="0" y="514896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7651216" y="2229129"/>
            <a:ext cx="457573" cy="5244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84"/>
              </a:lnSpc>
            </a:pPr>
            <a:r>
              <a:rPr lang="en-US" sz="3219" b="1" spc="-95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04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140832" y="3121829"/>
            <a:ext cx="1184725" cy="748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84"/>
              </a:lnSpc>
            </a:pPr>
            <a:r>
              <a:rPr lang="en-US" sz="2373" b="1" spc="-70">
                <a:solidFill>
                  <a:srgbClr val="0B204F"/>
                </a:solidFill>
                <a:latin typeface="Roboto Bold"/>
                <a:ea typeface="Roboto Bold"/>
                <a:cs typeface="Roboto Bold"/>
                <a:sym typeface="Roboto Bold"/>
              </a:rPr>
              <a:t>Assess</a:t>
            </a:r>
          </a:p>
          <a:p>
            <a:pPr algn="l">
              <a:lnSpc>
                <a:spcPts val="3084"/>
              </a:lnSpc>
            </a:pPr>
            <a:r>
              <a:rPr lang="en-US" sz="2373" b="1" spc="-70">
                <a:solidFill>
                  <a:srgbClr val="0B204F"/>
                </a:solidFill>
                <a:latin typeface="Roboto Bold"/>
                <a:ea typeface="Roboto Bold"/>
                <a:cs typeface="Roboto Bold"/>
                <a:sym typeface="Roboto Bold"/>
              </a:rPr>
              <a:t>reliability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140987" y="4171606"/>
            <a:ext cx="1169299" cy="9958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83"/>
              </a:lnSpc>
            </a:pPr>
            <a:r>
              <a:rPr lang="en-US" sz="1740" spc="-51">
                <a:solidFill>
                  <a:srgbClr val="0B204F"/>
                </a:solidFill>
                <a:latin typeface="Roboto"/>
                <a:ea typeface="Roboto"/>
                <a:cs typeface="Roboto"/>
                <a:sym typeface="Roboto"/>
              </a:rPr>
              <a:t>calculate</a:t>
            </a:r>
          </a:p>
          <a:p>
            <a:pPr algn="l">
              <a:lnSpc>
                <a:spcPts val="2783"/>
              </a:lnSpc>
            </a:pPr>
            <a:r>
              <a:rPr lang="en-US" sz="1740" spc="-51">
                <a:solidFill>
                  <a:srgbClr val="0B204F"/>
                </a:solidFill>
                <a:latin typeface="Roboto"/>
                <a:ea typeface="Roboto"/>
                <a:cs typeface="Roboto"/>
                <a:sym typeface="Roboto"/>
              </a:rPr>
              <a:t>explanable</a:t>
            </a:r>
          </a:p>
          <a:p>
            <a:pPr algn="l">
              <a:lnSpc>
                <a:spcPts val="2783"/>
              </a:lnSpc>
            </a:pPr>
            <a:r>
              <a:rPr lang="en-US" sz="1740" spc="-51">
                <a:solidFill>
                  <a:srgbClr val="0B204F"/>
                </a:solidFill>
                <a:latin typeface="Roboto"/>
                <a:ea typeface="Roboto"/>
                <a:cs typeface="Roboto"/>
                <a:sym typeface="Roboto"/>
              </a:rPr>
              <a:t>quality score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138847" y="5464049"/>
            <a:ext cx="1383290" cy="65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83"/>
              </a:lnSpc>
            </a:pPr>
            <a:r>
              <a:rPr lang="en-US" sz="1740" spc="-51">
                <a:solidFill>
                  <a:srgbClr val="0B204F"/>
                </a:solidFill>
                <a:latin typeface="Roboto"/>
                <a:ea typeface="Roboto"/>
                <a:cs typeface="Roboto"/>
                <a:sym typeface="Roboto"/>
              </a:rPr>
              <a:t>identify causes</a:t>
            </a:r>
          </a:p>
          <a:p>
            <a:pPr algn="l">
              <a:lnSpc>
                <a:spcPts val="2783"/>
              </a:lnSpc>
            </a:pPr>
            <a:r>
              <a:rPr lang="en-US" sz="1740" spc="-51">
                <a:solidFill>
                  <a:srgbClr val="0B204F"/>
                </a:solidFill>
                <a:latin typeface="Roboto"/>
                <a:ea typeface="Roboto"/>
                <a:cs typeface="Roboto"/>
                <a:sym typeface="Roboto"/>
              </a:rPr>
              <a:t>of degradation</a:t>
            </a:r>
          </a:p>
        </p:txBody>
      </p:sp>
      <p:sp>
        <p:nvSpPr>
          <p:cNvPr id="22" name="Freeform 22"/>
          <p:cNvSpPr/>
          <p:nvPr/>
        </p:nvSpPr>
        <p:spPr>
          <a:xfrm>
            <a:off x="8706488" y="5990729"/>
            <a:ext cx="1531292" cy="2590881"/>
          </a:xfrm>
          <a:custGeom>
            <a:avLst/>
            <a:gdLst/>
            <a:ahLst/>
            <a:cxnLst/>
            <a:rect l="l" t="t" r="r" b="b"/>
            <a:pathLst>
              <a:path w="1531292" h="2590881">
                <a:moveTo>
                  <a:pt x="0" y="0"/>
                </a:moveTo>
                <a:lnTo>
                  <a:pt x="1531292" y="0"/>
                </a:lnTo>
                <a:lnTo>
                  <a:pt x="1531292" y="2590881"/>
                </a:lnTo>
                <a:lnTo>
                  <a:pt x="0" y="259088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8892043" y="6183090"/>
            <a:ext cx="1077021" cy="508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39"/>
              </a:lnSpc>
            </a:pPr>
            <a:r>
              <a:rPr lang="en-US" sz="1568" b="1" spc="-46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SUFFICIENT</a:t>
            </a:r>
          </a:p>
          <a:p>
            <a:pPr algn="ctr">
              <a:lnSpc>
                <a:spcPts val="2039"/>
              </a:lnSpc>
            </a:pPr>
            <a:r>
              <a:rPr lang="en-US" sz="1568" b="1" spc="-46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QUALITY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801321" y="7178691"/>
            <a:ext cx="1258466" cy="8476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0"/>
              </a:lnSpc>
            </a:pPr>
            <a:r>
              <a:rPr lang="en-US" sz="1494" spc="-44">
                <a:solidFill>
                  <a:srgbClr val="0B204F"/>
                </a:solidFill>
                <a:latin typeface="Roboto"/>
                <a:ea typeface="Roboto"/>
                <a:cs typeface="Roboto"/>
                <a:sym typeface="Roboto"/>
              </a:rPr>
              <a:t>display reading</a:t>
            </a:r>
          </a:p>
          <a:p>
            <a:pPr algn="ctr">
              <a:lnSpc>
                <a:spcPts val="2390"/>
              </a:lnSpc>
            </a:pPr>
            <a:r>
              <a:rPr lang="en-US" sz="1494" spc="-44">
                <a:solidFill>
                  <a:srgbClr val="0B204F"/>
                </a:solidFill>
                <a:latin typeface="Roboto"/>
                <a:ea typeface="Roboto"/>
                <a:cs typeface="Roboto"/>
                <a:sym typeface="Roboto"/>
              </a:rPr>
              <a:t>with quality</a:t>
            </a:r>
          </a:p>
          <a:p>
            <a:pPr algn="ctr">
              <a:lnSpc>
                <a:spcPts val="2390"/>
              </a:lnSpc>
            </a:pPr>
            <a:r>
              <a:rPr lang="en-US" sz="1494" spc="-44">
                <a:solidFill>
                  <a:srgbClr val="0B204F"/>
                </a:solidFill>
                <a:latin typeface="Roboto"/>
                <a:ea typeface="Roboto"/>
                <a:cs typeface="Roboto"/>
                <a:sym typeface="Roboto"/>
              </a:rPr>
              <a:t>status</a:t>
            </a:r>
          </a:p>
        </p:txBody>
      </p:sp>
      <p:sp>
        <p:nvSpPr>
          <p:cNvPr id="25" name="Freeform 25"/>
          <p:cNvSpPr/>
          <p:nvPr/>
        </p:nvSpPr>
        <p:spPr>
          <a:xfrm>
            <a:off x="9570574" y="2142670"/>
            <a:ext cx="3062584" cy="3006296"/>
          </a:xfrm>
          <a:custGeom>
            <a:avLst/>
            <a:gdLst/>
            <a:ahLst/>
            <a:cxnLst/>
            <a:rect l="l" t="t" r="r" b="b"/>
            <a:pathLst>
              <a:path w="3062584" h="3006296">
                <a:moveTo>
                  <a:pt x="0" y="0"/>
                </a:moveTo>
                <a:lnTo>
                  <a:pt x="3062584" y="0"/>
                </a:lnTo>
                <a:lnTo>
                  <a:pt x="3062584" y="3006296"/>
                </a:lnTo>
                <a:lnTo>
                  <a:pt x="0" y="300629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26" name="TextBox 26"/>
          <p:cNvSpPr txBox="1"/>
          <p:nvPr/>
        </p:nvSpPr>
        <p:spPr>
          <a:xfrm>
            <a:off x="10268293" y="3220613"/>
            <a:ext cx="1635650" cy="924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5"/>
              </a:lnSpc>
            </a:pPr>
            <a:r>
              <a:rPr lang="en-US" sz="1927" b="1" spc="-57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How reliable</a:t>
            </a:r>
          </a:p>
          <a:p>
            <a:pPr algn="ctr">
              <a:lnSpc>
                <a:spcPts val="2505"/>
              </a:lnSpc>
            </a:pPr>
            <a:r>
              <a:rPr lang="en-US" sz="1927" b="1" spc="-57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is the</a:t>
            </a:r>
          </a:p>
          <a:p>
            <a:pPr algn="ctr">
              <a:lnSpc>
                <a:spcPts val="2505"/>
              </a:lnSpc>
            </a:pPr>
            <a:r>
              <a:rPr lang="en-US" sz="1927" b="1" spc="-57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measurement?</a:t>
            </a:r>
          </a:p>
        </p:txBody>
      </p:sp>
      <p:sp>
        <p:nvSpPr>
          <p:cNvPr id="27" name="Freeform 27"/>
          <p:cNvSpPr/>
          <p:nvPr/>
        </p:nvSpPr>
        <p:spPr>
          <a:xfrm>
            <a:off x="8706488" y="3421712"/>
            <a:ext cx="875024" cy="655919"/>
          </a:xfrm>
          <a:custGeom>
            <a:avLst/>
            <a:gdLst/>
            <a:ahLst/>
            <a:cxnLst/>
            <a:rect l="l" t="t" r="r" b="b"/>
            <a:pathLst>
              <a:path w="875024" h="655919">
                <a:moveTo>
                  <a:pt x="0" y="0"/>
                </a:moveTo>
                <a:lnTo>
                  <a:pt x="875024" y="0"/>
                </a:lnTo>
                <a:lnTo>
                  <a:pt x="875024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10883110" y="4919394"/>
            <a:ext cx="448450" cy="1082267"/>
          </a:xfrm>
          <a:custGeom>
            <a:avLst/>
            <a:gdLst/>
            <a:ahLst/>
            <a:cxnLst/>
            <a:rect l="l" t="t" r="r" b="b"/>
            <a:pathLst>
              <a:path w="448450" h="1082267">
                <a:moveTo>
                  <a:pt x="0" y="0"/>
                </a:moveTo>
                <a:lnTo>
                  <a:pt x="448450" y="0"/>
                </a:lnTo>
                <a:lnTo>
                  <a:pt x="448450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9351818" y="5356674"/>
            <a:ext cx="1542230" cy="644987"/>
          </a:xfrm>
          <a:custGeom>
            <a:avLst/>
            <a:gdLst/>
            <a:ahLst/>
            <a:cxnLst/>
            <a:rect l="l" t="t" r="r" b="b"/>
            <a:pathLst>
              <a:path w="1542230" h="644987">
                <a:moveTo>
                  <a:pt x="0" y="0"/>
                </a:moveTo>
                <a:lnTo>
                  <a:pt x="1542230" y="0"/>
                </a:lnTo>
                <a:lnTo>
                  <a:pt x="1542230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30" name="Freeform 30"/>
          <p:cNvSpPr/>
          <p:nvPr/>
        </p:nvSpPr>
        <p:spPr>
          <a:xfrm>
            <a:off x="10226842" y="5990729"/>
            <a:ext cx="1750048" cy="2590881"/>
          </a:xfrm>
          <a:custGeom>
            <a:avLst/>
            <a:gdLst/>
            <a:ahLst/>
            <a:cxnLst/>
            <a:rect l="l" t="t" r="r" b="b"/>
            <a:pathLst>
              <a:path w="1750048" h="2590881">
                <a:moveTo>
                  <a:pt x="0" y="0"/>
                </a:moveTo>
                <a:lnTo>
                  <a:pt x="1750048" y="0"/>
                </a:lnTo>
                <a:lnTo>
                  <a:pt x="1750048" y="2590881"/>
                </a:lnTo>
                <a:lnTo>
                  <a:pt x="0" y="259088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31" name="TextBox 31"/>
          <p:cNvSpPr txBox="1"/>
          <p:nvPr/>
        </p:nvSpPr>
        <p:spPr>
          <a:xfrm>
            <a:off x="10575473" y="6183090"/>
            <a:ext cx="1027719" cy="508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39"/>
              </a:lnSpc>
            </a:pPr>
            <a:r>
              <a:rPr lang="en-US" sz="1568" b="1" spc="-46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QUALITY</a:t>
            </a:r>
          </a:p>
          <a:p>
            <a:pPr algn="ctr">
              <a:lnSpc>
                <a:spcPts val="2039"/>
              </a:lnSpc>
            </a:pPr>
            <a:r>
              <a:rPr lang="en-US" sz="1568" b="1" spc="-46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CONCERNS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376405" y="7136718"/>
            <a:ext cx="1419426" cy="1054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7"/>
              </a:lnSpc>
            </a:pPr>
            <a:r>
              <a:rPr lang="en-US" sz="1598" spc="-47">
                <a:solidFill>
                  <a:srgbClr val="0B204F"/>
                </a:solidFill>
                <a:latin typeface="Roboto"/>
                <a:ea typeface="Roboto"/>
                <a:cs typeface="Roboto"/>
                <a:sym typeface="Roboto"/>
              </a:rPr>
              <a:t>flag interval</a:t>
            </a:r>
          </a:p>
          <a:p>
            <a:pPr algn="ctr">
              <a:lnSpc>
                <a:spcPts val="2877"/>
              </a:lnSpc>
            </a:pPr>
            <a:r>
              <a:rPr lang="en-US" sz="1598" spc="-47">
                <a:solidFill>
                  <a:srgbClr val="0B204F"/>
                </a:solidFill>
                <a:latin typeface="Roboto"/>
                <a:ea typeface="Roboto"/>
                <a:cs typeface="Roboto"/>
                <a:sym typeface="Roboto"/>
              </a:rPr>
              <a:t>recommend</a:t>
            </a:r>
          </a:p>
          <a:p>
            <a:pPr algn="ctr">
              <a:lnSpc>
                <a:spcPts val="2877"/>
              </a:lnSpc>
            </a:pPr>
            <a:r>
              <a:rPr lang="en-US" sz="1598" spc="-47">
                <a:solidFill>
                  <a:srgbClr val="0B204F"/>
                </a:solidFill>
                <a:latin typeface="Roboto"/>
                <a:ea typeface="Roboto"/>
                <a:cs typeface="Roboto"/>
                <a:sym typeface="Roboto"/>
              </a:rPr>
              <a:t>repeat or review</a:t>
            </a:r>
          </a:p>
        </p:txBody>
      </p:sp>
      <p:sp>
        <p:nvSpPr>
          <p:cNvPr id="33" name="Freeform 33"/>
          <p:cNvSpPr/>
          <p:nvPr/>
        </p:nvSpPr>
        <p:spPr>
          <a:xfrm>
            <a:off x="11965952" y="5990729"/>
            <a:ext cx="1750048" cy="2590881"/>
          </a:xfrm>
          <a:custGeom>
            <a:avLst/>
            <a:gdLst/>
            <a:ahLst/>
            <a:cxnLst/>
            <a:rect l="l" t="t" r="r" b="b"/>
            <a:pathLst>
              <a:path w="1750048" h="2590881">
                <a:moveTo>
                  <a:pt x="0" y="0"/>
                </a:moveTo>
                <a:lnTo>
                  <a:pt x="1750048" y="0"/>
                </a:lnTo>
                <a:lnTo>
                  <a:pt x="1750048" y="2590881"/>
                </a:lnTo>
                <a:lnTo>
                  <a:pt x="0" y="2590881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34" name="TextBox 34"/>
          <p:cNvSpPr txBox="1"/>
          <p:nvPr/>
        </p:nvSpPr>
        <p:spPr>
          <a:xfrm>
            <a:off x="12152551" y="6183090"/>
            <a:ext cx="1273096" cy="508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39"/>
              </a:lnSpc>
            </a:pPr>
            <a:r>
              <a:rPr lang="en-US" sz="1568" b="1" spc="-46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INSUFFICIENT</a:t>
            </a:r>
          </a:p>
          <a:p>
            <a:pPr algn="ctr">
              <a:lnSpc>
                <a:spcPts val="2039"/>
              </a:lnSpc>
            </a:pPr>
            <a:r>
              <a:rPr lang="en-US" sz="1568" b="1" spc="-46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EVIDENCE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2391125" y="7168785"/>
            <a:ext cx="795947" cy="9069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9"/>
              </a:lnSpc>
            </a:pPr>
            <a:r>
              <a:rPr lang="en-US" sz="1568" spc="-46">
                <a:solidFill>
                  <a:srgbClr val="0B204F"/>
                </a:solidFill>
                <a:latin typeface="Roboto"/>
                <a:ea typeface="Roboto"/>
                <a:cs typeface="Roboto"/>
                <a:sym typeface="Roboto"/>
              </a:rPr>
              <a:t>report</a:t>
            </a:r>
          </a:p>
          <a:p>
            <a:pPr algn="ctr">
              <a:lnSpc>
                <a:spcPts val="2509"/>
              </a:lnSpc>
            </a:pPr>
            <a:r>
              <a:rPr lang="en-US" sz="1568" spc="-46">
                <a:solidFill>
                  <a:srgbClr val="0B204F"/>
                </a:solidFill>
                <a:latin typeface="Roboto"/>
                <a:ea typeface="Roboto"/>
                <a:cs typeface="Roboto"/>
                <a:sym typeface="Roboto"/>
              </a:rPr>
              <a:t>reliability</a:t>
            </a:r>
          </a:p>
          <a:p>
            <a:pPr algn="ctr">
              <a:lnSpc>
                <a:spcPts val="2509"/>
              </a:lnSpc>
            </a:pPr>
            <a:r>
              <a:rPr lang="en-US" sz="1568" spc="-46">
                <a:solidFill>
                  <a:srgbClr val="0B204F"/>
                </a:solidFill>
                <a:latin typeface="Roboto"/>
                <a:ea typeface="Roboto"/>
                <a:cs typeface="Roboto"/>
                <a:sym typeface="Roboto"/>
              </a:rPr>
              <a:t>unknown</a:t>
            </a:r>
          </a:p>
        </p:txBody>
      </p:sp>
      <p:sp>
        <p:nvSpPr>
          <p:cNvPr id="36" name="Freeform 36"/>
          <p:cNvSpPr/>
          <p:nvPr/>
        </p:nvSpPr>
        <p:spPr>
          <a:xfrm>
            <a:off x="13278488" y="1924030"/>
            <a:ext cx="2187560" cy="4296271"/>
          </a:xfrm>
          <a:custGeom>
            <a:avLst/>
            <a:gdLst/>
            <a:ahLst/>
            <a:cxnLst/>
            <a:rect l="l" t="t" r="r" b="b"/>
            <a:pathLst>
              <a:path w="2187560" h="4296271">
                <a:moveTo>
                  <a:pt x="0" y="0"/>
                </a:moveTo>
                <a:lnTo>
                  <a:pt x="2187560" y="0"/>
                </a:lnTo>
                <a:lnTo>
                  <a:pt x="2187560" y="4296271"/>
                </a:lnTo>
                <a:lnTo>
                  <a:pt x="0" y="4296271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37" name="TextBox 37"/>
          <p:cNvSpPr txBox="1"/>
          <p:nvPr/>
        </p:nvSpPr>
        <p:spPr>
          <a:xfrm>
            <a:off x="14160958" y="2229129"/>
            <a:ext cx="457573" cy="5244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84"/>
              </a:lnSpc>
            </a:pPr>
            <a:r>
              <a:rPr lang="en-US" sz="3219" b="1" spc="-95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05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3619561" y="3112380"/>
            <a:ext cx="1607155" cy="1080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1"/>
              </a:lnSpc>
            </a:pPr>
            <a:r>
              <a:rPr lang="en-US" sz="2232" b="1" spc="-66">
                <a:solidFill>
                  <a:srgbClr val="0B204F"/>
                </a:solidFill>
                <a:latin typeface="Roboto Bold"/>
                <a:ea typeface="Roboto Bold"/>
                <a:cs typeface="Roboto Bold"/>
                <a:sym typeface="Roboto Bold"/>
              </a:rPr>
              <a:t>Validate</a:t>
            </a:r>
          </a:p>
          <a:p>
            <a:pPr algn="l">
              <a:lnSpc>
                <a:spcPts val="2901"/>
              </a:lnSpc>
            </a:pPr>
            <a:r>
              <a:rPr lang="en-US" sz="2232" b="1" spc="-66">
                <a:solidFill>
                  <a:srgbClr val="0B204F"/>
                </a:solidFill>
                <a:latin typeface="Roboto Bold"/>
                <a:ea typeface="Roboto Bold"/>
                <a:cs typeface="Roboto Bold"/>
                <a:sym typeface="Roboto Bold"/>
              </a:rPr>
              <a:t>physiological</a:t>
            </a:r>
          </a:p>
          <a:p>
            <a:pPr algn="l">
              <a:lnSpc>
                <a:spcPts val="2901"/>
              </a:lnSpc>
            </a:pPr>
            <a:r>
              <a:rPr lang="en-US" sz="2232" b="1" spc="-66">
                <a:solidFill>
                  <a:srgbClr val="0B204F"/>
                </a:solidFill>
                <a:latin typeface="Roboto Bold"/>
                <a:ea typeface="Roboto Bold"/>
                <a:cs typeface="Roboto Bold"/>
                <a:sym typeface="Roboto Bold"/>
              </a:rPr>
              <a:t>value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3621215" y="4803878"/>
            <a:ext cx="1441775" cy="523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5"/>
              </a:lnSpc>
            </a:pPr>
            <a:r>
              <a:rPr lang="en-US" sz="1353" spc="-40">
                <a:solidFill>
                  <a:srgbClr val="0B204F"/>
                </a:solidFill>
                <a:latin typeface="Roboto"/>
                <a:ea typeface="Roboto"/>
                <a:cs typeface="Roboto"/>
                <a:sym typeface="Roboto"/>
              </a:rPr>
              <a:t>against age-specific</a:t>
            </a:r>
          </a:p>
          <a:p>
            <a:pPr algn="l">
              <a:lnSpc>
                <a:spcPts val="2165"/>
              </a:lnSpc>
            </a:pPr>
            <a:r>
              <a:rPr lang="en-US" sz="1353" spc="-40">
                <a:solidFill>
                  <a:srgbClr val="0B204F"/>
                </a:solidFill>
                <a:latin typeface="Roboto"/>
                <a:ea typeface="Roboto"/>
                <a:cs typeface="Roboto"/>
                <a:sym typeface="Roboto"/>
              </a:rPr>
              <a:t>reference range</a:t>
            </a:r>
          </a:p>
        </p:txBody>
      </p:sp>
      <p:sp>
        <p:nvSpPr>
          <p:cNvPr id="40" name="Freeform 40"/>
          <p:cNvSpPr/>
          <p:nvPr/>
        </p:nvSpPr>
        <p:spPr>
          <a:xfrm>
            <a:off x="15673866" y="1924030"/>
            <a:ext cx="2187560" cy="4296271"/>
          </a:xfrm>
          <a:custGeom>
            <a:avLst/>
            <a:gdLst/>
            <a:ahLst/>
            <a:cxnLst/>
            <a:rect l="l" t="t" r="r" b="b"/>
            <a:pathLst>
              <a:path w="2187560" h="4296271">
                <a:moveTo>
                  <a:pt x="0" y="0"/>
                </a:moveTo>
                <a:lnTo>
                  <a:pt x="2187560" y="0"/>
                </a:lnTo>
                <a:lnTo>
                  <a:pt x="2187560" y="4296271"/>
                </a:lnTo>
                <a:lnTo>
                  <a:pt x="0" y="4296271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41" name="TextBox 41"/>
          <p:cNvSpPr txBox="1"/>
          <p:nvPr/>
        </p:nvSpPr>
        <p:spPr>
          <a:xfrm>
            <a:off x="16464818" y="2229129"/>
            <a:ext cx="457573" cy="5244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84"/>
              </a:lnSpc>
            </a:pPr>
            <a:r>
              <a:rPr lang="en-US" sz="3219" b="1" spc="-95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06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5924414" y="3112240"/>
            <a:ext cx="1507820" cy="11848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11"/>
              </a:lnSpc>
            </a:pPr>
            <a:r>
              <a:rPr lang="en-US" sz="2471" b="1" spc="-73">
                <a:solidFill>
                  <a:srgbClr val="0B204F"/>
                </a:solidFill>
                <a:latin typeface="Roboto Bold"/>
                <a:ea typeface="Roboto Bold"/>
                <a:cs typeface="Roboto Bold"/>
                <a:sym typeface="Roboto Bold"/>
              </a:rPr>
              <a:t>Display all</a:t>
            </a:r>
          </a:p>
          <a:p>
            <a:pPr algn="l">
              <a:lnSpc>
                <a:spcPts val="3211"/>
              </a:lnSpc>
            </a:pPr>
            <a:r>
              <a:rPr lang="en-US" sz="2471" b="1" spc="-73">
                <a:solidFill>
                  <a:srgbClr val="0B204F"/>
                </a:solidFill>
                <a:latin typeface="Roboto Bold"/>
                <a:ea typeface="Roboto Bold"/>
                <a:cs typeface="Roboto Bold"/>
                <a:sym typeface="Roboto Bold"/>
              </a:rPr>
              <a:t>results and</a:t>
            </a:r>
          </a:p>
          <a:p>
            <a:pPr algn="l">
              <a:lnSpc>
                <a:spcPts val="3211"/>
              </a:lnSpc>
            </a:pPr>
            <a:r>
              <a:rPr lang="en-US" sz="2471" b="1" spc="-73">
                <a:solidFill>
                  <a:srgbClr val="0B204F"/>
                </a:solidFill>
                <a:latin typeface="Roboto Bold"/>
                <a:ea typeface="Roboto Bold"/>
                <a:cs typeface="Roboto Bold"/>
                <a:sym typeface="Roboto Bold"/>
              </a:rPr>
              <a:t>warnings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5926850" y="4602571"/>
            <a:ext cx="1264247" cy="9472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9"/>
              </a:lnSpc>
            </a:pPr>
            <a:r>
              <a:rPr lang="en-US" sz="1643" spc="-48">
                <a:solidFill>
                  <a:srgbClr val="0B204F"/>
                </a:solidFill>
                <a:latin typeface="Roboto"/>
                <a:ea typeface="Roboto"/>
                <a:cs typeface="Roboto"/>
                <a:sym typeface="Roboto"/>
              </a:rPr>
              <a:t>on dashboard</a:t>
            </a:r>
          </a:p>
          <a:p>
            <a:pPr algn="l">
              <a:lnSpc>
                <a:spcPts val="2629"/>
              </a:lnSpc>
            </a:pPr>
            <a:r>
              <a:rPr lang="en-US" sz="1643" spc="-48">
                <a:solidFill>
                  <a:srgbClr val="0B204F"/>
                </a:solidFill>
                <a:latin typeface="Roboto"/>
                <a:ea typeface="Roboto"/>
                <a:cs typeface="Roboto"/>
                <a:sym typeface="Roboto"/>
              </a:rPr>
              <a:t>for clinician</a:t>
            </a:r>
          </a:p>
          <a:p>
            <a:pPr algn="l">
              <a:lnSpc>
                <a:spcPts val="2629"/>
              </a:lnSpc>
            </a:pPr>
            <a:r>
              <a:rPr lang="en-US" sz="1643" spc="-48">
                <a:solidFill>
                  <a:srgbClr val="0B204F"/>
                </a:solidFill>
                <a:latin typeface="Roboto"/>
                <a:ea typeface="Roboto"/>
                <a:cs typeface="Roboto"/>
                <a:sym typeface="Roboto"/>
              </a:rPr>
              <a:t>review</a:t>
            </a:r>
          </a:p>
        </p:txBody>
      </p:sp>
      <p:sp>
        <p:nvSpPr>
          <p:cNvPr id="44" name="Freeform 44"/>
          <p:cNvSpPr/>
          <p:nvPr/>
        </p:nvSpPr>
        <p:spPr>
          <a:xfrm>
            <a:off x="12622220" y="3421712"/>
            <a:ext cx="885962" cy="655919"/>
          </a:xfrm>
          <a:custGeom>
            <a:avLst/>
            <a:gdLst/>
            <a:ahLst/>
            <a:cxnLst/>
            <a:rect l="l" t="t" r="r" b="b"/>
            <a:pathLst>
              <a:path w="885962" h="655919">
                <a:moveTo>
                  <a:pt x="0" y="0"/>
                </a:moveTo>
                <a:lnTo>
                  <a:pt x="885962" y="0"/>
                </a:lnTo>
                <a:lnTo>
                  <a:pt x="885962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45" name="Freeform 45"/>
          <p:cNvSpPr/>
          <p:nvPr/>
        </p:nvSpPr>
        <p:spPr>
          <a:xfrm>
            <a:off x="15236354" y="3421712"/>
            <a:ext cx="448450" cy="437279"/>
          </a:xfrm>
          <a:custGeom>
            <a:avLst/>
            <a:gdLst/>
            <a:ahLst/>
            <a:cxnLst/>
            <a:rect l="l" t="t" r="r" b="b"/>
            <a:pathLst>
              <a:path w="448450" h="437279">
                <a:moveTo>
                  <a:pt x="0" y="0"/>
                </a:moveTo>
                <a:lnTo>
                  <a:pt x="448450" y="0"/>
                </a:lnTo>
                <a:lnTo>
                  <a:pt x="44845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</p:sp>
      <p:sp>
        <p:nvSpPr>
          <p:cNvPr id="46" name="Freeform 46"/>
          <p:cNvSpPr/>
          <p:nvPr/>
        </p:nvSpPr>
        <p:spPr>
          <a:xfrm>
            <a:off x="2384440" y="3421712"/>
            <a:ext cx="448450" cy="437279"/>
          </a:xfrm>
          <a:custGeom>
            <a:avLst/>
            <a:gdLst/>
            <a:ahLst/>
            <a:cxnLst/>
            <a:rect l="l" t="t" r="r" b="b"/>
            <a:pathLst>
              <a:path w="448450" h="437279">
                <a:moveTo>
                  <a:pt x="0" y="0"/>
                </a:moveTo>
                <a:lnTo>
                  <a:pt x="448450" y="0"/>
                </a:lnTo>
                <a:lnTo>
                  <a:pt x="44845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</p:sp>
      <p:sp>
        <p:nvSpPr>
          <p:cNvPr id="47" name="Freeform 47"/>
          <p:cNvSpPr/>
          <p:nvPr/>
        </p:nvSpPr>
        <p:spPr>
          <a:xfrm>
            <a:off x="4572000" y="3421712"/>
            <a:ext cx="437512" cy="437279"/>
          </a:xfrm>
          <a:custGeom>
            <a:avLst/>
            <a:gdLst/>
            <a:ahLst/>
            <a:cxnLst/>
            <a:rect l="l" t="t" r="r" b="b"/>
            <a:pathLst>
              <a:path w="437512" h="437279">
                <a:moveTo>
                  <a:pt x="0" y="0"/>
                </a:moveTo>
                <a:lnTo>
                  <a:pt x="437512" y="0"/>
                </a:lnTo>
                <a:lnTo>
                  <a:pt x="437512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</p:sp>
      <p:sp>
        <p:nvSpPr>
          <p:cNvPr id="48" name="Freeform 48"/>
          <p:cNvSpPr/>
          <p:nvPr/>
        </p:nvSpPr>
        <p:spPr>
          <a:xfrm>
            <a:off x="6529866" y="3421712"/>
            <a:ext cx="437512" cy="437279"/>
          </a:xfrm>
          <a:custGeom>
            <a:avLst/>
            <a:gdLst/>
            <a:ahLst/>
            <a:cxnLst/>
            <a:rect l="l" t="t" r="r" b="b"/>
            <a:pathLst>
              <a:path w="437512" h="437279">
                <a:moveTo>
                  <a:pt x="0" y="0"/>
                </a:moveTo>
                <a:lnTo>
                  <a:pt x="437512" y="0"/>
                </a:lnTo>
                <a:lnTo>
                  <a:pt x="437512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</p:sp>
      <p:sp>
        <p:nvSpPr>
          <p:cNvPr id="49" name="Freeform 49"/>
          <p:cNvSpPr/>
          <p:nvPr/>
        </p:nvSpPr>
        <p:spPr>
          <a:xfrm>
            <a:off x="426574" y="8778386"/>
            <a:ext cx="17434852" cy="1082267"/>
          </a:xfrm>
          <a:custGeom>
            <a:avLst/>
            <a:gdLst/>
            <a:ahLst/>
            <a:cxnLst/>
            <a:rect l="l" t="t" r="r" b="b"/>
            <a:pathLst>
              <a:path w="17434852" h="1082267">
                <a:moveTo>
                  <a:pt x="0" y="0"/>
                </a:moveTo>
                <a:lnTo>
                  <a:pt x="17434852" y="0"/>
                </a:lnTo>
                <a:lnTo>
                  <a:pt x="17434852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/>
            </a:stretch>
          </a:blipFill>
        </p:spPr>
      </p:sp>
      <p:sp>
        <p:nvSpPr>
          <p:cNvPr id="50" name="Freeform 50"/>
          <p:cNvSpPr/>
          <p:nvPr/>
        </p:nvSpPr>
        <p:spPr>
          <a:xfrm>
            <a:off x="645330" y="8997026"/>
            <a:ext cx="229694" cy="655919"/>
          </a:xfrm>
          <a:custGeom>
            <a:avLst/>
            <a:gdLst/>
            <a:ahLst/>
            <a:cxnLst/>
            <a:rect l="l" t="t" r="r" b="b"/>
            <a:pathLst>
              <a:path w="229694" h="655919">
                <a:moveTo>
                  <a:pt x="0" y="0"/>
                </a:moveTo>
                <a:lnTo>
                  <a:pt x="229694" y="0"/>
                </a:lnTo>
                <a:lnTo>
                  <a:pt x="229694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/>
            </a:stretch>
          </a:blipFill>
        </p:spPr>
      </p:sp>
      <p:sp>
        <p:nvSpPr>
          <p:cNvPr id="51" name="TextBox 51"/>
          <p:cNvSpPr txBox="1"/>
          <p:nvPr/>
        </p:nvSpPr>
        <p:spPr>
          <a:xfrm>
            <a:off x="876848" y="9105016"/>
            <a:ext cx="14113588" cy="3843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0"/>
              </a:lnSpc>
            </a:pPr>
            <a:r>
              <a:rPr lang="en-US" sz="2558" b="1" spc="-24">
                <a:solidFill>
                  <a:srgbClr val="0B204F"/>
                </a:solidFill>
                <a:latin typeface="Roboto Bold"/>
                <a:ea typeface="Roboto Bold"/>
                <a:cs typeface="Roboto Bold"/>
                <a:sym typeface="Roboto Bold"/>
              </a:rPr>
              <a:t>Software prototype simulates this workflow; physical sensor integration is future development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30125" y="375264"/>
            <a:ext cx="10565581" cy="9113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01"/>
              </a:lnSpc>
            </a:pPr>
            <a:r>
              <a:rPr lang="en-US" sz="5916" b="1" spc="-57">
                <a:solidFill>
                  <a:srgbClr val="081D49"/>
                </a:solidFill>
                <a:latin typeface="Roboto Bold"/>
                <a:ea typeface="Roboto Bold"/>
                <a:cs typeface="Roboto Bold"/>
                <a:sym typeface="Roboto Bold"/>
              </a:rPr>
              <a:t>Simulate. Analyze. Visualize.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50157" y="1414463"/>
            <a:ext cx="8562446" cy="375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24"/>
              </a:lnSpc>
            </a:pPr>
            <a:r>
              <a:rPr lang="en-US" sz="2436" b="1" spc="-23">
                <a:solidFill>
                  <a:srgbClr val="081D49"/>
                </a:solidFill>
                <a:latin typeface="Roboto Bold"/>
                <a:ea typeface="Roboto Bold"/>
                <a:cs typeface="Roboto Bold"/>
                <a:sym typeface="Roboto Bold"/>
              </a:rPr>
              <a:t>Prototype architecture for controlled testing and validation</a:t>
            </a:r>
          </a:p>
        </p:txBody>
      </p:sp>
      <p:sp>
        <p:nvSpPr>
          <p:cNvPr id="5" name="Freeform 5"/>
          <p:cNvSpPr/>
          <p:nvPr/>
        </p:nvSpPr>
        <p:spPr>
          <a:xfrm>
            <a:off x="426574" y="2142670"/>
            <a:ext cx="4582938" cy="4077631"/>
          </a:xfrm>
          <a:custGeom>
            <a:avLst/>
            <a:gdLst/>
            <a:ahLst/>
            <a:cxnLst/>
            <a:rect l="l" t="t" r="r" b="b"/>
            <a:pathLst>
              <a:path w="4582938" h="4077631">
                <a:moveTo>
                  <a:pt x="0" y="0"/>
                </a:moveTo>
                <a:lnTo>
                  <a:pt x="4582938" y="0"/>
                </a:lnTo>
                <a:lnTo>
                  <a:pt x="4582938" y="4077631"/>
                </a:lnTo>
                <a:lnTo>
                  <a:pt x="0" y="407763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536807" y="2307041"/>
            <a:ext cx="2365636" cy="2498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88"/>
              </a:lnSpc>
            </a:pPr>
            <a:r>
              <a:rPr lang="en-US" sz="1740" b="1" spc="-16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INPUT &amp; SIMULATION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00005" y="3090205"/>
            <a:ext cx="3761246" cy="2498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740" b="1" spc="-16">
                <a:solidFill>
                  <a:srgbClr val="081D49"/>
                </a:solidFill>
                <a:latin typeface="Roboto Bold"/>
                <a:ea typeface="Roboto Bold"/>
                <a:cs typeface="Roboto Bold"/>
                <a:sym typeface="Roboto Bold"/>
              </a:rPr>
              <a:t>MATLAB/Simulink synthetic signals</a:t>
            </a:r>
          </a:p>
        </p:txBody>
      </p:sp>
      <p:sp>
        <p:nvSpPr>
          <p:cNvPr id="8" name="Freeform 8"/>
          <p:cNvSpPr/>
          <p:nvPr/>
        </p:nvSpPr>
        <p:spPr>
          <a:xfrm>
            <a:off x="864086" y="3421712"/>
            <a:ext cx="3926670" cy="229572"/>
          </a:xfrm>
          <a:custGeom>
            <a:avLst/>
            <a:gdLst/>
            <a:ahLst/>
            <a:cxnLst/>
            <a:rect l="l" t="t" r="r" b="b"/>
            <a:pathLst>
              <a:path w="3926670" h="229572">
                <a:moveTo>
                  <a:pt x="0" y="0"/>
                </a:moveTo>
                <a:lnTo>
                  <a:pt x="3926670" y="0"/>
                </a:lnTo>
                <a:lnTo>
                  <a:pt x="3926670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920516" y="3903491"/>
            <a:ext cx="1710123" cy="2498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740" b="1" spc="-16">
                <a:solidFill>
                  <a:srgbClr val="081D49"/>
                </a:solidFill>
                <a:latin typeface="Roboto Bold"/>
                <a:ea typeface="Roboto Bold"/>
                <a:cs typeface="Roboto Bold"/>
                <a:sym typeface="Roboto Bold"/>
              </a:rPr>
              <a:t>MATLAB scripts</a:t>
            </a:r>
          </a:p>
        </p:txBody>
      </p:sp>
      <p:sp>
        <p:nvSpPr>
          <p:cNvPr id="10" name="Freeform 10"/>
          <p:cNvSpPr/>
          <p:nvPr/>
        </p:nvSpPr>
        <p:spPr>
          <a:xfrm>
            <a:off x="864086" y="4285339"/>
            <a:ext cx="3926670" cy="218640"/>
          </a:xfrm>
          <a:custGeom>
            <a:avLst/>
            <a:gdLst/>
            <a:ahLst/>
            <a:cxnLst/>
            <a:rect l="l" t="t" r="r" b="b"/>
            <a:pathLst>
              <a:path w="3926670" h="218640">
                <a:moveTo>
                  <a:pt x="0" y="0"/>
                </a:moveTo>
                <a:lnTo>
                  <a:pt x="3926670" y="0"/>
                </a:lnTo>
                <a:lnTo>
                  <a:pt x="3926670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864086" y="5138034"/>
            <a:ext cx="3926670" cy="229572"/>
          </a:xfrm>
          <a:custGeom>
            <a:avLst/>
            <a:gdLst/>
            <a:ahLst/>
            <a:cxnLst/>
            <a:rect l="l" t="t" r="r" b="b"/>
            <a:pathLst>
              <a:path w="3926670" h="229572">
                <a:moveTo>
                  <a:pt x="0" y="0"/>
                </a:moveTo>
                <a:lnTo>
                  <a:pt x="3926670" y="0"/>
                </a:lnTo>
                <a:lnTo>
                  <a:pt x="3926670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923904" y="5484879"/>
            <a:ext cx="1371274" cy="2498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740" b="1" spc="-16">
                <a:solidFill>
                  <a:srgbClr val="081D49"/>
                </a:solidFill>
                <a:latin typeface="Roboto Bold"/>
                <a:ea typeface="Roboto Bold"/>
                <a:cs typeface="Roboto Bold"/>
                <a:sym typeface="Roboto Bold"/>
              </a:rPr>
              <a:t>CSV uploads</a:t>
            </a:r>
          </a:p>
        </p:txBody>
      </p:sp>
      <p:sp>
        <p:nvSpPr>
          <p:cNvPr id="13" name="Freeform 13"/>
          <p:cNvSpPr/>
          <p:nvPr/>
        </p:nvSpPr>
        <p:spPr>
          <a:xfrm>
            <a:off x="5654842" y="2142670"/>
            <a:ext cx="5020450" cy="4077631"/>
          </a:xfrm>
          <a:custGeom>
            <a:avLst/>
            <a:gdLst/>
            <a:ahLst/>
            <a:cxnLst/>
            <a:rect l="l" t="t" r="r" b="b"/>
            <a:pathLst>
              <a:path w="5020450" h="4077631">
                <a:moveTo>
                  <a:pt x="0" y="0"/>
                </a:moveTo>
                <a:lnTo>
                  <a:pt x="5020450" y="0"/>
                </a:lnTo>
                <a:lnTo>
                  <a:pt x="5020450" y="4077631"/>
                </a:lnTo>
                <a:lnTo>
                  <a:pt x="0" y="40776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6022989" y="2307041"/>
            <a:ext cx="4046748" cy="2498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88"/>
              </a:lnSpc>
            </a:pPr>
            <a:r>
              <a:rPr lang="en-US" sz="1740" b="1" spc="-16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PYTHON FASTAPI ANALYSIS ENGINE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221603" y="2939597"/>
            <a:ext cx="1653271" cy="2498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88"/>
              </a:lnSpc>
            </a:pPr>
            <a:r>
              <a:rPr lang="en-US" sz="1740" b="1" spc="-16">
                <a:solidFill>
                  <a:srgbClr val="081D49"/>
                </a:solidFill>
                <a:latin typeface="Roboto Bold"/>
                <a:ea typeface="Roboto Bold"/>
                <a:cs typeface="Roboto Bold"/>
                <a:sym typeface="Roboto Bold"/>
              </a:rPr>
              <a:t>Data validation</a:t>
            </a:r>
          </a:p>
        </p:txBody>
      </p:sp>
      <p:sp>
        <p:nvSpPr>
          <p:cNvPr id="16" name="Freeform 16"/>
          <p:cNvSpPr/>
          <p:nvPr/>
        </p:nvSpPr>
        <p:spPr>
          <a:xfrm>
            <a:off x="7831464" y="3214004"/>
            <a:ext cx="448450" cy="437279"/>
          </a:xfrm>
          <a:custGeom>
            <a:avLst/>
            <a:gdLst/>
            <a:ahLst/>
            <a:cxnLst/>
            <a:rect l="l" t="t" r="r" b="b"/>
            <a:pathLst>
              <a:path w="448450" h="437279">
                <a:moveTo>
                  <a:pt x="0" y="0"/>
                </a:moveTo>
                <a:lnTo>
                  <a:pt x="448450" y="0"/>
                </a:lnTo>
                <a:lnTo>
                  <a:pt x="448450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7117277" y="3587213"/>
            <a:ext cx="1861923" cy="2498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88"/>
              </a:lnSpc>
            </a:pPr>
            <a:r>
              <a:rPr lang="en-US" sz="1740" b="1" spc="-16">
                <a:solidFill>
                  <a:srgbClr val="081D49"/>
                </a:solidFill>
                <a:latin typeface="Roboto Bold"/>
                <a:ea typeface="Roboto Bold"/>
                <a:cs typeface="Roboto Bold"/>
                <a:sym typeface="Roboto Bold"/>
              </a:rPr>
              <a:t>Artifact detection</a:t>
            </a:r>
          </a:p>
        </p:txBody>
      </p:sp>
      <p:sp>
        <p:nvSpPr>
          <p:cNvPr id="18" name="Freeform 18"/>
          <p:cNvSpPr/>
          <p:nvPr/>
        </p:nvSpPr>
        <p:spPr>
          <a:xfrm>
            <a:off x="7831464" y="3848060"/>
            <a:ext cx="448450" cy="448211"/>
          </a:xfrm>
          <a:custGeom>
            <a:avLst/>
            <a:gdLst/>
            <a:ahLst/>
            <a:cxnLst/>
            <a:rect l="l" t="t" r="r" b="b"/>
            <a:pathLst>
              <a:path w="448450" h="448211">
                <a:moveTo>
                  <a:pt x="0" y="0"/>
                </a:moveTo>
                <a:lnTo>
                  <a:pt x="448450" y="0"/>
                </a:lnTo>
                <a:lnTo>
                  <a:pt x="448450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7072095" y="4249890"/>
            <a:ext cx="1952286" cy="2498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88"/>
              </a:lnSpc>
            </a:pPr>
            <a:r>
              <a:rPr lang="en-US" sz="1740" b="1" spc="-16">
                <a:solidFill>
                  <a:srgbClr val="081D49"/>
                </a:solidFill>
                <a:latin typeface="Roboto Bold"/>
                <a:ea typeface="Roboto Bold"/>
                <a:cs typeface="Roboto Bold"/>
                <a:sym typeface="Roboto Bold"/>
              </a:rPr>
              <a:t>Feature extraction</a:t>
            </a:r>
          </a:p>
        </p:txBody>
      </p:sp>
      <p:sp>
        <p:nvSpPr>
          <p:cNvPr id="20" name="Freeform 20"/>
          <p:cNvSpPr/>
          <p:nvPr/>
        </p:nvSpPr>
        <p:spPr>
          <a:xfrm>
            <a:off x="7831464" y="4493047"/>
            <a:ext cx="448450" cy="437279"/>
          </a:xfrm>
          <a:custGeom>
            <a:avLst/>
            <a:gdLst/>
            <a:ahLst/>
            <a:cxnLst/>
            <a:rect l="l" t="t" r="r" b="b"/>
            <a:pathLst>
              <a:path w="448450" h="437279">
                <a:moveTo>
                  <a:pt x="0" y="0"/>
                </a:moveTo>
                <a:lnTo>
                  <a:pt x="448450" y="0"/>
                </a:lnTo>
                <a:lnTo>
                  <a:pt x="44845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7831464" y="5138034"/>
            <a:ext cx="448450" cy="437279"/>
          </a:xfrm>
          <a:custGeom>
            <a:avLst/>
            <a:gdLst/>
            <a:ahLst/>
            <a:cxnLst/>
            <a:rect l="l" t="t" r="r" b="b"/>
            <a:pathLst>
              <a:path w="448450" h="437279">
                <a:moveTo>
                  <a:pt x="0" y="0"/>
                </a:moveTo>
                <a:lnTo>
                  <a:pt x="448450" y="0"/>
                </a:lnTo>
                <a:lnTo>
                  <a:pt x="44845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7241405" y="5560183"/>
            <a:ext cx="1613665" cy="2498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88"/>
              </a:lnSpc>
            </a:pPr>
            <a:r>
              <a:rPr lang="en-US" sz="1740" b="1" spc="-16">
                <a:solidFill>
                  <a:srgbClr val="081D49"/>
                </a:solidFill>
                <a:latin typeface="Roboto Bold"/>
                <a:ea typeface="Roboto Bold"/>
                <a:cs typeface="Roboto Bold"/>
                <a:sym typeface="Roboto Bold"/>
              </a:rPr>
              <a:t>Analysis report</a:t>
            </a:r>
          </a:p>
        </p:txBody>
      </p:sp>
      <p:sp>
        <p:nvSpPr>
          <p:cNvPr id="23" name="Freeform 23"/>
          <p:cNvSpPr/>
          <p:nvPr/>
        </p:nvSpPr>
        <p:spPr>
          <a:xfrm>
            <a:off x="4998574" y="3848060"/>
            <a:ext cx="667206" cy="655919"/>
          </a:xfrm>
          <a:custGeom>
            <a:avLst/>
            <a:gdLst/>
            <a:ahLst/>
            <a:cxnLst/>
            <a:rect l="l" t="t" r="r" b="b"/>
            <a:pathLst>
              <a:path w="667206" h="655919">
                <a:moveTo>
                  <a:pt x="0" y="0"/>
                </a:moveTo>
                <a:lnTo>
                  <a:pt x="667206" y="0"/>
                </a:lnTo>
                <a:lnTo>
                  <a:pt x="667206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10445598" y="3848060"/>
            <a:ext cx="667206" cy="655919"/>
          </a:xfrm>
          <a:custGeom>
            <a:avLst/>
            <a:gdLst/>
            <a:ahLst/>
            <a:cxnLst/>
            <a:rect l="l" t="t" r="r" b="b"/>
            <a:pathLst>
              <a:path w="667206" h="655919">
                <a:moveTo>
                  <a:pt x="0" y="0"/>
                </a:moveTo>
                <a:lnTo>
                  <a:pt x="667206" y="0"/>
                </a:lnTo>
                <a:lnTo>
                  <a:pt x="667206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11101866" y="2142670"/>
            <a:ext cx="6759560" cy="4077631"/>
          </a:xfrm>
          <a:custGeom>
            <a:avLst/>
            <a:gdLst/>
            <a:ahLst/>
            <a:cxnLst/>
            <a:rect l="l" t="t" r="r" b="b"/>
            <a:pathLst>
              <a:path w="6759560" h="4077631">
                <a:moveTo>
                  <a:pt x="0" y="0"/>
                </a:moveTo>
                <a:lnTo>
                  <a:pt x="6759560" y="0"/>
                </a:lnTo>
                <a:lnTo>
                  <a:pt x="6759560" y="4077631"/>
                </a:lnTo>
                <a:lnTo>
                  <a:pt x="0" y="4077631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26" name="TextBox 26"/>
          <p:cNvSpPr txBox="1"/>
          <p:nvPr/>
        </p:nvSpPr>
        <p:spPr>
          <a:xfrm>
            <a:off x="12341799" y="2307041"/>
            <a:ext cx="3921228" cy="2498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88"/>
              </a:lnSpc>
            </a:pPr>
            <a:r>
              <a:rPr lang="en-US" sz="1740" b="1" spc="-16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REACT + TYPESCRIPT DASHBOARD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499673" y="3090205"/>
            <a:ext cx="1962425" cy="2498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740" b="1" spc="-16">
                <a:solidFill>
                  <a:srgbClr val="081D49"/>
                </a:solidFill>
                <a:latin typeface="Roboto Bold"/>
                <a:ea typeface="Roboto Bold"/>
                <a:cs typeface="Roboto Bold"/>
                <a:sym typeface="Roboto Bold"/>
              </a:rPr>
              <a:t>Waveform display</a:t>
            </a:r>
          </a:p>
        </p:txBody>
      </p:sp>
      <p:sp>
        <p:nvSpPr>
          <p:cNvPr id="28" name="Freeform 28"/>
          <p:cNvSpPr/>
          <p:nvPr/>
        </p:nvSpPr>
        <p:spPr>
          <a:xfrm>
            <a:off x="11320622" y="3421712"/>
            <a:ext cx="2395378" cy="229572"/>
          </a:xfrm>
          <a:custGeom>
            <a:avLst/>
            <a:gdLst/>
            <a:ahLst/>
            <a:cxnLst/>
            <a:rect l="l" t="t" r="r" b="b"/>
            <a:pathLst>
              <a:path w="2395378" h="229572">
                <a:moveTo>
                  <a:pt x="0" y="0"/>
                </a:moveTo>
                <a:lnTo>
                  <a:pt x="2395378" y="0"/>
                </a:lnTo>
                <a:lnTo>
                  <a:pt x="2395378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11320622" y="4285339"/>
            <a:ext cx="2395378" cy="218640"/>
          </a:xfrm>
          <a:custGeom>
            <a:avLst/>
            <a:gdLst/>
            <a:ahLst/>
            <a:cxnLst/>
            <a:rect l="l" t="t" r="r" b="b"/>
            <a:pathLst>
              <a:path w="2395378" h="218640">
                <a:moveTo>
                  <a:pt x="0" y="0"/>
                </a:moveTo>
                <a:lnTo>
                  <a:pt x="2395378" y="0"/>
                </a:lnTo>
                <a:lnTo>
                  <a:pt x="2395378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30" name="Freeform 30"/>
          <p:cNvSpPr/>
          <p:nvPr/>
        </p:nvSpPr>
        <p:spPr>
          <a:xfrm>
            <a:off x="11320622" y="5138034"/>
            <a:ext cx="2395378" cy="229572"/>
          </a:xfrm>
          <a:custGeom>
            <a:avLst/>
            <a:gdLst/>
            <a:ahLst/>
            <a:cxnLst/>
            <a:rect l="l" t="t" r="r" b="b"/>
            <a:pathLst>
              <a:path w="2395378" h="229572">
                <a:moveTo>
                  <a:pt x="0" y="0"/>
                </a:moveTo>
                <a:lnTo>
                  <a:pt x="2395378" y="0"/>
                </a:lnTo>
                <a:lnTo>
                  <a:pt x="2395378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</p:sp>
      <p:sp>
        <p:nvSpPr>
          <p:cNvPr id="31" name="TextBox 31"/>
          <p:cNvSpPr txBox="1"/>
          <p:nvPr/>
        </p:nvSpPr>
        <p:spPr>
          <a:xfrm>
            <a:off x="11499632" y="5484879"/>
            <a:ext cx="1966522" cy="2498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740" b="1" spc="-16">
                <a:solidFill>
                  <a:srgbClr val="081D49"/>
                </a:solidFill>
                <a:latin typeface="Roboto Bold"/>
                <a:ea typeface="Roboto Bold"/>
                <a:cs typeface="Roboto Bold"/>
                <a:sym typeface="Roboto Bold"/>
              </a:rPr>
              <a:t>Report downloads</a:t>
            </a:r>
          </a:p>
        </p:txBody>
      </p:sp>
      <p:sp>
        <p:nvSpPr>
          <p:cNvPr id="32" name="Freeform 32"/>
          <p:cNvSpPr/>
          <p:nvPr/>
        </p:nvSpPr>
        <p:spPr>
          <a:xfrm>
            <a:off x="13716000" y="2776725"/>
            <a:ext cx="3707914" cy="3224936"/>
          </a:xfrm>
          <a:custGeom>
            <a:avLst/>
            <a:gdLst/>
            <a:ahLst/>
            <a:cxnLst/>
            <a:rect l="l" t="t" r="r" b="b"/>
            <a:pathLst>
              <a:path w="3707914" h="3224936">
                <a:moveTo>
                  <a:pt x="0" y="0"/>
                </a:moveTo>
                <a:lnTo>
                  <a:pt x="3707914" y="0"/>
                </a:lnTo>
                <a:lnTo>
                  <a:pt x="3707914" y="3224936"/>
                </a:lnTo>
                <a:lnTo>
                  <a:pt x="0" y="3224936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</p:sp>
      <p:sp>
        <p:nvSpPr>
          <p:cNvPr id="33" name="Freeform 33"/>
          <p:cNvSpPr/>
          <p:nvPr/>
        </p:nvSpPr>
        <p:spPr>
          <a:xfrm>
            <a:off x="14142574" y="3421712"/>
            <a:ext cx="3062584" cy="437279"/>
          </a:xfrm>
          <a:custGeom>
            <a:avLst/>
            <a:gdLst/>
            <a:ahLst/>
            <a:cxnLst/>
            <a:rect l="l" t="t" r="r" b="b"/>
            <a:pathLst>
              <a:path w="3062584" h="437279">
                <a:moveTo>
                  <a:pt x="0" y="0"/>
                </a:moveTo>
                <a:lnTo>
                  <a:pt x="3062584" y="0"/>
                </a:lnTo>
                <a:lnTo>
                  <a:pt x="3062584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</p:sp>
      <p:sp>
        <p:nvSpPr>
          <p:cNvPr id="34" name="Freeform 34"/>
          <p:cNvSpPr/>
          <p:nvPr/>
        </p:nvSpPr>
        <p:spPr>
          <a:xfrm>
            <a:off x="14142574" y="4285339"/>
            <a:ext cx="1104718" cy="863627"/>
          </a:xfrm>
          <a:custGeom>
            <a:avLst/>
            <a:gdLst/>
            <a:ahLst/>
            <a:cxnLst/>
            <a:rect l="l" t="t" r="r" b="b"/>
            <a:pathLst>
              <a:path w="1104718" h="863627">
                <a:moveTo>
                  <a:pt x="0" y="0"/>
                </a:moveTo>
                <a:lnTo>
                  <a:pt x="1104718" y="0"/>
                </a:lnTo>
                <a:lnTo>
                  <a:pt x="1104718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</p:sp>
      <p:sp>
        <p:nvSpPr>
          <p:cNvPr id="35" name="TextBox 35"/>
          <p:cNvSpPr txBox="1"/>
          <p:nvPr/>
        </p:nvSpPr>
        <p:spPr>
          <a:xfrm>
            <a:off x="14519076" y="4496399"/>
            <a:ext cx="286764" cy="277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4"/>
              </a:lnSpc>
            </a:pPr>
            <a:r>
              <a:rPr lang="en-US" sz="1862" b="1" spc="-18">
                <a:solidFill>
                  <a:srgbClr val="0288A8"/>
                </a:solidFill>
                <a:latin typeface="Roboto Bold"/>
                <a:ea typeface="Roboto Bold"/>
                <a:cs typeface="Roboto Bold"/>
                <a:sym typeface="Roboto Bold"/>
              </a:rPr>
              <a:t>87</a:t>
            </a:r>
          </a:p>
        </p:txBody>
      </p:sp>
      <p:sp>
        <p:nvSpPr>
          <p:cNvPr id="36" name="Freeform 36"/>
          <p:cNvSpPr/>
          <p:nvPr/>
        </p:nvSpPr>
        <p:spPr>
          <a:xfrm>
            <a:off x="16537952" y="4711687"/>
            <a:ext cx="448450" cy="437279"/>
          </a:xfrm>
          <a:custGeom>
            <a:avLst/>
            <a:gdLst/>
            <a:ahLst/>
            <a:cxnLst/>
            <a:rect l="l" t="t" r="r" b="b"/>
            <a:pathLst>
              <a:path w="448450" h="437279">
                <a:moveTo>
                  <a:pt x="0" y="0"/>
                </a:moveTo>
                <a:lnTo>
                  <a:pt x="448450" y="0"/>
                </a:lnTo>
                <a:lnTo>
                  <a:pt x="44845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/>
            </a:stretch>
          </a:blipFill>
        </p:spPr>
      </p:sp>
      <p:sp>
        <p:nvSpPr>
          <p:cNvPr id="37" name="Freeform 37"/>
          <p:cNvSpPr/>
          <p:nvPr/>
        </p:nvSpPr>
        <p:spPr>
          <a:xfrm>
            <a:off x="426574" y="6209369"/>
            <a:ext cx="10904986" cy="3869923"/>
          </a:xfrm>
          <a:custGeom>
            <a:avLst/>
            <a:gdLst/>
            <a:ahLst/>
            <a:cxnLst/>
            <a:rect l="l" t="t" r="r" b="b"/>
            <a:pathLst>
              <a:path w="10904986" h="3869923">
                <a:moveTo>
                  <a:pt x="0" y="0"/>
                </a:moveTo>
                <a:lnTo>
                  <a:pt x="10904986" y="0"/>
                </a:lnTo>
                <a:lnTo>
                  <a:pt x="10904986" y="3869923"/>
                </a:lnTo>
                <a:lnTo>
                  <a:pt x="0" y="3869923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/>
            </a:stretch>
          </a:blipFill>
        </p:spPr>
      </p:sp>
      <p:sp>
        <p:nvSpPr>
          <p:cNvPr id="38" name="Freeform 38"/>
          <p:cNvSpPr/>
          <p:nvPr/>
        </p:nvSpPr>
        <p:spPr>
          <a:xfrm>
            <a:off x="645330" y="7499343"/>
            <a:ext cx="1968804" cy="1716322"/>
          </a:xfrm>
          <a:custGeom>
            <a:avLst/>
            <a:gdLst/>
            <a:ahLst/>
            <a:cxnLst/>
            <a:rect l="l" t="t" r="r" b="b"/>
            <a:pathLst>
              <a:path w="1968804" h="1716322">
                <a:moveTo>
                  <a:pt x="0" y="0"/>
                </a:moveTo>
                <a:lnTo>
                  <a:pt x="1968804" y="0"/>
                </a:lnTo>
                <a:lnTo>
                  <a:pt x="1968804" y="1716322"/>
                </a:lnTo>
                <a:lnTo>
                  <a:pt x="0" y="1716322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/>
            </a:stretch>
          </a:blipFill>
        </p:spPr>
      </p:sp>
      <p:sp>
        <p:nvSpPr>
          <p:cNvPr id="39" name="Freeform 39"/>
          <p:cNvSpPr/>
          <p:nvPr/>
        </p:nvSpPr>
        <p:spPr>
          <a:xfrm>
            <a:off x="864086" y="7925691"/>
            <a:ext cx="1750048" cy="863627"/>
          </a:xfrm>
          <a:custGeom>
            <a:avLst/>
            <a:gdLst/>
            <a:ahLst/>
            <a:cxnLst/>
            <a:rect l="l" t="t" r="r" b="b"/>
            <a:pathLst>
              <a:path w="1750048" h="863627">
                <a:moveTo>
                  <a:pt x="0" y="0"/>
                </a:moveTo>
                <a:lnTo>
                  <a:pt x="1750048" y="0"/>
                </a:lnTo>
                <a:lnTo>
                  <a:pt x="1750048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/>
            </a:stretch>
          </a:blipFill>
        </p:spPr>
      </p:sp>
      <p:sp>
        <p:nvSpPr>
          <p:cNvPr id="40" name="TextBox 40"/>
          <p:cNvSpPr txBox="1"/>
          <p:nvPr/>
        </p:nvSpPr>
        <p:spPr>
          <a:xfrm>
            <a:off x="1084232" y="9110551"/>
            <a:ext cx="1255713" cy="4296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27"/>
              </a:lnSpc>
            </a:pPr>
            <a:r>
              <a:rPr lang="en-US" sz="1406" b="1" spc="-13">
                <a:solidFill>
                  <a:srgbClr val="081D49"/>
                </a:solidFill>
                <a:latin typeface="Roboto Bold"/>
                <a:ea typeface="Roboto Bold"/>
                <a:cs typeface="Roboto Bold"/>
                <a:sym typeface="Roboto Bold"/>
              </a:rPr>
              <a:t>stable baseline clear rhythm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3270633" y="7062277"/>
            <a:ext cx="1008428" cy="4296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27"/>
              </a:lnSpc>
            </a:pPr>
            <a:r>
              <a:rPr lang="en-US" sz="1406" b="1" spc="-13">
                <a:solidFill>
                  <a:srgbClr val="081D49"/>
                </a:solidFill>
                <a:latin typeface="Roboto Bold"/>
                <a:ea typeface="Roboto Bold"/>
                <a:cs typeface="Roboto Bold"/>
                <a:sym typeface="Roboto Bold"/>
              </a:rPr>
              <a:t>Movement disturbance</a:t>
            </a:r>
          </a:p>
        </p:txBody>
      </p:sp>
      <p:sp>
        <p:nvSpPr>
          <p:cNvPr id="42" name="Freeform 42"/>
          <p:cNvSpPr/>
          <p:nvPr/>
        </p:nvSpPr>
        <p:spPr>
          <a:xfrm>
            <a:off x="2821952" y="7499343"/>
            <a:ext cx="1968804" cy="1716322"/>
          </a:xfrm>
          <a:custGeom>
            <a:avLst/>
            <a:gdLst/>
            <a:ahLst/>
            <a:cxnLst/>
            <a:rect l="l" t="t" r="r" b="b"/>
            <a:pathLst>
              <a:path w="1968804" h="1716322">
                <a:moveTo>
                  <a:pt x="0" y="0"/>
                </a:moveTo>
                <a:lnTo>
                  <a:pt x="1968804" y="0"/>
                </a:lnTo>
                <a:lnTo>
                  <a:pt x="1968804" y="1716322"/>
                </a:lnTo>
                <a:lnTo>
                  <a:pt x="0" y="1716322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/>
            </a:stretch>
          </a:blipFill>
        </p:spPr>
      </p:sp>
      <p:sp>
        <p:nvSpPr>
          <p:cNvPr id="43" name="Freeform 43"/>
          <p:cNvSpPr/>
          <p:nvPr/>
        </p:nvSpPr>
        <p:spPr>
          <a:xfrm>
            <a:off x="2821952" y="7925691"/>
            <a:ext cx="1750048" cy="863627"/>
          </a:xfrm>
          <a:custGeom>
            <a:avLst/>
            <a:gdLst/>
            <a:ahLst/>
            <a:cxnLst/>
            <a:rect l="l" t="t" r="r" b="b"/>
            <a:pathLst>
              <a:path w="1750048" h="863627">
                <a:moveTo>
                  <a:pt x="0" y="0"/>
                </a:moveTo>
                <a:lnTo>
                  <a:pt x="1750048" y="0"/>
                </a:lnTo>
                <a:lnTo>
                  <a:pt x="1750048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/>
            </a:stretch>
          </a:blipFill>
        </p:spPr>
      </p:sp>
      <p:sp>
        <p:nvSpPr>
          <p:cNvPr id="44" name="TextBox 44"/>
          <p:cNvSpPr txBox="1"/>
          <p:nvPr/>
        </p:nvSpPr>
        <p:spPr>
          <a:xfrm>
            <a:off x="3135306" y="9110551"/>
            <a:ext cx="1279082" cy="4296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27"/>
              </a:lnSpc>
            </a:pPr>
            <a:r>
              <a:rPr lang="en-US" sz="1406" b="1" spc="-13">
                <a:solidFill>
                  <a:srgbClr val="081D49"/>
                </a:solidFill>
                <a:latin typeface="Roboto Bold"/>
                <a:ea typeface="Roboto Bold"/>
                <a:cs typeface="Roboto Bold"/>
                <a:sym typeface="Roboto Bold"/>
              </a:rPr>
              <a:t>irregular spikes high noise</a:t>
            </a:r>
          </a:p>
        </p:txBody>
      </p:sp>
      <p:sp>
        <p:nvSpPr>
          <p:cNvPr id="45" name="Freeform 45"/>
          <p:cNvSpPr/>
          <p:nvPr/>
        </p:nvSpPr>
        <p:spPr>
          <a:xfrm>
            <a:off x="4779818" y="7499343"/>
            <a:ext cx="1979742" cy="1716322"/>
          </a:xfrm>
          <a:custGeom>
            <a:avLst/>
            <a:gdLst/>
            <a:ahLst/>
            <a:cxnLst/>
            <a:rect l="l" t="t" r="r" b="b"/>
            <a:pathLst>
              <a:path w="1979742" h="1716322">
                <a:moveTo>
                  <a:pt x="0" y="0"/>
                </a:moveTo>
                <a:lnTo>
                  <a:pt x="1979742" y="0"/>
                </a:lnTo>
                <a:lnTo>
                  <a:pt x="1979742" y="1716322"/>
                </a:lnTo>
                <a:lnTo>
                  <a:pt x="0" y="1716322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/>
            </a:stretch>
          </a:blipFill>
        </p:spPr>
      </p:sp>
      <p:sp>
        <p:nvSpPr>
          <p:cNvPr id="46" name="Freeform 46"/>
          <p:cNvSpPr/>
          <p:nvPr/>
        </p:nvSpPr>
        <p:spPr>
          <a:xfrm>
            <a:off x="4998574" y="7925691"/>
            <a:ext cx="1760986" cy="863627"/>
          </a:xfrm>
          <a:custGeom>
            <a:avLst/>
            <a:gdLst/>
            <a:ahLst/>
            <a:cxnLst/>
            <a:rect l="l" t="t" r="r" b="b"/>
            <a:pathLst>
              <a:path w="1760986" h="863627">
                <a:moveTo>
                  <a:pt x="0" y="0"/>
                </a:moveTo>
                <a:lnTo>
                  <a:pt x="1760986" y="0"/>
                </a:lnTo>
                <a:lnTo>
                  <a:pt x="1760986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/>
            </a:stretch>
          </a:blipFill>
        </p:spPr>
      </p:sp>
      <p:sp>
        <p:nvSpPr>
          <p:cNvPr id="47" name="TextBox 47"/>
          <p:cNvSpPr txBox="1"/>
          <p:nvPr/>
        </p:nvSpPr>
        <p:spPr>
          <a:xfrm>
            <a:off x="5243300" y="9110551"/>
            <a:ext cx="1137174" cy="4296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27"/>
              </a:lnSpc>
            </a:pPr>
            <a:r>
              <a:rPr lang="en-US" sz="1406" b="1" spc="-13">
                <a:solidFill>
                  <a:srgbClr val="081D49"/>
                </a:solidFill>
                <a:latin typeface="Roboto Bold"/>
                <a:ea typeface="Roboto Bold"/>
                <a:cs typeface="Roboto Bold"/>
                <a:sym typeface="Roboto Bold"/>
              </a:rPr>
              <a:t>slow baseline shift</a:t>
            </a:r>
          </a:p>
        </p:txBody>
      </p:sp>
      <p:sp>
        <p:nvSpPr>
          <p:cNvPr id="48" name="Freeform 48"/>
          <p:cNvSpPr/>
          <p:nvPr/>
        </p:nvSpPr>
        <p:spPr>
          <a:xfrm>
            <a:off x="6956440" y="7499343"/>
            <a:ext cx="1979742" cy="1716322"/>
          </a:xfrm>
          <a:custGeom>
            <a:avLst/>
            <a:gdLst/>
            <a:ahLst/>
            <a:cxnLst/>
            <a:rect l="l" t="t" r="r" b="b"/>
            <a:pathLst>
              <a:path w="1979742" h="1716322">
                <a:moveTo>
                  <a:pt x="0" y="0"/>
                </a:moveTo>
                <a:lnTo>
                  <a:pt x="1979742" y="0"/>
                </a:lnTo>
                <a:lnTo>
                  <a:pt x="1979742" y="1716322"/>
                </a:lnTo>
                <a:lnTo>
                  <a:pt x="0" y="1716322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>
              <a:fillRect/>
            </a:stretch>
          </a:blipFill>
        </p:spPr>
      </p:sp>
      <p:sp>
        <p:nvSpPr>
          <p:cNvPr id="49" name="Freeform 49"/>
          <p:cNvSpPr/>
          <p:nvPr/>
        </p:nvSpPr>
        <p:spPr>
          <a:xfrm>
            <a:off x="6956440" y="7925691"/>
            <a:ext cx="1760986" cy="863627"/>
          </a:xfrm>
          <a:custGeom>
            <a:avLst/>
            <a:gdLst/>
            <a:ahLst/>
            <a:cxnLst/>
            <a:rect l="l" t="t" r="r" b="b"/>
            <a:pathLst>
              <a:path w="1760986" h="863627">
                <a:moveTo>
                  <a:pt x="0" y="0"/>
                </a:moveTo>
                <a:lnTo>
                  <a:pt x="1760986" y="0"/>
                </a:lnTo>
                <a:lnTo>
                  <a:pt x="1760986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>
              <a:fillRect/>
            </a:stretch>
          </a:blipFill>
        </p:spPr>
      </p:sp>
      <p:sp>
        <p:nvSpPr>
          <p:cNvPr id="50" name="TextBox 50"/>
          <p:cNvSpPr txBox="1"/>
          <p:nvPr/>
        </p:nvSpPr>
        <p:spPr>
          <a:xfrm>
            <a:off x="7252207" y="9110551"/>
            <a:ext cx="1189154" cy="4296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27"/>
              </a:lnSpc>
            </a:pPr>
            <a:r>
              <a:rPr lang="en-US" sz="1406" b="1" spc="-13">
                <a:solidFill>
                  <a:srgbClr val="081D49"/>
                </a:solidFill>
                <a:latin typeface="Roboto Bold"/>
                <a:ea typeface="Roboto Bold"/>
                <a:cs typeface="Roboto Bold"/>
                <a:sym typeface="Roboto Bold"/>
              </a:rPr>
              <a:t>missing signal segments</a:t>
            </a:r>
          </a:p>
        </p:txBody>
      </p:sp>
      <p:sp>
        <p:nvSpPr>
          <p:cNvPr id="51" name="Freeform 51"/>
          <p:cNvSpPr/>
          <p:nvPr/>
        </p:nvSpPr>
        <p:spPr>
          <a:xfrm>
            <a:off x="8925244" y="7499343"/>
            <a:ext cx="1968804" cy="1716322"/>
          </a:xfrm>
          <a:custGeom>
            <a:avLst/>
            <a:gdLst/>
            <a:ahLst/>
            <a:cxnLst/>
            <a:rect l="l" t="t" r="r" b="b"/>
            <a:pathLst>
              <a:path w="1968804" h="1716322">
                <a:moveTo>
                  <a:pt x="0" y="0"/>
                </a:moveTo>
                <a:lnTo>
                  <a:pt x="1968804" y="0"/>
                </a:lnTo>
                <a:lnTo>
                  <a:pt x="1968804" y="1716322"/>
                </a:lnTo>
                <a:lnTo>
                  <a:pt x="0" y="1716322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>
              <a:fillRect/>
            </a:stretch>
          </a:blipFill>
        </p:spPr>
      </p:sp>
      <p:sp>
        <p:nvSpPr>
          <p:cNvPr id="52" name="Freeform 52"/>
          <p:cNvSpPr/>
          <p:nvPr/>
        </p:nvSpPr>
        <p:spPr>
          <a:xfrm>
            <a:off x="9144000" y="7925691"/>
            <a:ext cx="1750048" cy="863627"/>
          </a:xfrm>
          <a:custGeom>
            <a:avLst/>
            <a:gdLst/>
            <a:ahLst/>
            <a:cxnLst/>
            <a:rect l="l" t="t" r="r" b="b"/>
            <a:pathLst>
              <a:path w="1750048" h="863627">
                <a:moveTo>
                  <a:pt x="0" y="0"/>
                </a:moveTo>
                <a:lnTo>
                  <a:pt x="1750048" y="0"/>
                </a:lnTo>
                <a:lnTo>
                  <a:pt x="1750048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>
              <a:fillRect/>
            </a:stretch>
          </a:blipFill>
        </p:spPr>
      </p:sp>
      <p:sp>
        <p:nvSpPr>
          <p:cNvPr id="53" name="TextBox 53"/>
          <p:cNvSpPr txBox="1"/>
          <p:nvPr/>
        </p:nvSpPr>
        <p:spPr>
          <a:xfrm>
            <a:off x="9336743" y="9110551"/>
            <a:ext cx="1252755" cy="4296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27"/>
              </a:lnSpc>
            </a:pPr>
            <a:r>
              <a:rPr lang="en-US" sz="1406" b="1" spc="-13">
                <a:solidFill>
                  <a:srgbClr val="081D49"/>
                </a:solidFill>
                <a:latin typeface="Roboto Bold"/>
                <a:ea typeface="Roboto Bold"/>
                <a:cs typeface="Roboto Bold"/>
                <a:sym typeface="Roboto Bold"/>
              </a:rPr>
              <a:t>combination of artifacts</a:t>
            </a:r>
          </a:p>
        </p:txBody>
      </p:sp>
      <p:sp>
        <p:nvSpPr>
          <p:cNvPr id="54" name="Freeform 54"/>
          <p:cNvSpPr/>
          <p:nvPr/>
        </p:nvSpPr>
        <p:spPr>
          <a:xfrm>
            <a:off x="11320622" y="6209369"/>
            <a:ext cx="6540804" cy="3869923"/>
          </a:xfrm>
          <a:custGeom>
            <a:avLst/>
            <a:gdLst/>
            <a:ahLst/>
            <a:cxnLst/>
            <a:rect l="l" t="t" r="r" b="b"/>
            <a:pathLst>
              <a:path w="6540804" h="3869923">
                <a:moveTo>
                  <a:pt x="0" y="0"/>
                </a:moveTo>
                <a:lnTo>
                  <a:pt x="6540804" y="0"/>
                </a:lnTo>
                <a:lnTo>
                  <a:pt x="6540804" y="3869923"/>
                </a:lnTo>
                <a:lnTo>
                  <a:pt x="0" y="3869923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>
              <a:fillRect/>
            </a:stretch>
          </a:blipFill>
        </p:spPr>
      </p:sp>
      <p:sp>
        <p:nvSpPr>
          <p:cNvPr id="55" name="TextBox 55"/>
          <p:cNvSpPr txBox="1"/>
          <p:nvPr/>
        </p:nvSpPr>
        <p:spPr>
          <a:xfrm>
            <a:off x="11795267" y="6787140"/>
            <a:ext cx="4549814" cy="14978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66"/>
              </a:lnSpc>
            </a:pPr>
            <a:r>
              <a:rPr lang="en-US" sz="3128" b="1" spc="-30">
                <a:solidFill>
                  <a:srgbClr val="081D49"/>
                </a:solidFill>
                <a:latin typeface="Roboto Bold"/>
                <a:ea typeface="Roboto Bold"/>
                <a:cs typeface="Roboto Bold"/>
                <a:sym typeface="Roboto Bold"/>
              </a:rPr>
              <a:t>Prototype enables controlled testing</a:t>
            </a:r>
          </a:p>
          <a:p>
            <a:pPr algn="l">
              <a:lnSpc>
                <a:spcPts val="4066"/>
              </a:lnSpc>
            </a:pPr>
            <a:r>
              <a:rPr lang="en-US" sz="3128" b="1" spc="-30">
                <a:solidFill>
                  <a:srgbClr val="0288A8"/>
                </a:solidFill>
                <a:latin typeface="Roboto Bold"/>
                <a:ea typeface="Roboto Bold"/>
                <a:cs typeface="Roboto Bold"/>
                <a:sym typeface="Roboto Bold"/>
              </a:rPr>
              <a:t>without physical device.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11793412" y="8560320"/>
            <a:ext cx="4735404" cy="10237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5"/>
              </a:lnSpc>
            </a:pPr>
            <a:r>
              <a:rPr lang="en-US" sz="2003" b="1" spc="-19">
                <a:solidFill>
                  <a:srgbClr val="081D49"/>
                </a:solidFill>
                <a:latin typeface="Roboto Bold"/>
                <a:ea typeface="Roboto Bold"/>
                <a:cs typeface="Roboto Bold"/>
                <a:sym typeface="Roboto Bold"/>
              </a:rPr>
              <a:t>Simulated signals drive repeatable validation and continuous improvement before real-world deployment.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1024079" y="6478894"/>
            <a:ext cx="3154813" cy="2498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88"/>
              </a:lnSpc>
            </a:pPr>
            <a:r>
              <a:rPr lang="en-US" sz="1740" b="1" spc="-16">
                <a:solidFill>
                  <a:srgbClr val="0288A8"/>
                </a:solidFill>
                <a:latin typeface="Roboto Bold"/>
                <a:ea typeface="Roboto Bold"/>
                <a:cs typeface="Roboto Bold"/>
                <a:sym typeface="Roboto Bold"/>
              </a:rPr>
              <a:t>KEY SIMULATED SCENARIOS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6870070" y="4897506"/>
            <a:ext cx="2356337" cy="2498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88"/>
              </a:lnSpc>
            </a:pPr>
            <a:r>
              <a:rPr lang="en-US" sz="1740" b="1" spc="-16">
                <a:solidFill>
                  <a:srgbClr val="081D49"/>
                </a:solidFill>
                <a:latin typeface="Roboto Bold"/>
                <a:ea typeface="Roboto Bold"/>
                <a:cs typeface="Roboto Bold"/>
                <a:sym typeface="Roboto Bold"/>
              </a:rPr>
              <a:t>Heuristic quality score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920968" y="4686654"/>
            <a:ext cx="1664879" cy="2498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740" b="1" spc="-16">
                <a:solidFill>
                  <a:srgbClr val="081D49"/>
                </a:solidFill>
                <a:latin typeface="Roboto Bold"/>
                <a:ea typeface="Roboto Bold"/>
                <a:cs typeface="Roboto Bold"/>
                <a:sym typeface="Roboto Bold"/>
              </a:rPr>
              <a:t>Python fallback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11504231" y="3903491"/>
            <a:ext cx="1506634" cy="2498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740" b="1" spc="-16">
                <a:solidFill>
                  <a:srgbClr val="081D49"/>
                </a:solidFill>
                <a:latin typeface="Roboto Bold"/>
                <a:ea typeface="Roboto Bold"/>
                <a:cs typeface="Roboto Bold"/>
                <a:sym typeface="Roboto Bold"/>
              </a:rPr>
              <a:t>Quality scores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15421134" y="4607317"/>
            <a:ext cx="936648" cy="3274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25"/>
              </a:lnSpc>
            </a:pPr>
            <a:r>
              <a:rPr lang="en-US" sz="1019" b="1" spc="-9">
                <a:solidFill>
                  <a:srgbClr val="F4A24F"/>
                </a:solidFill>
                <a:latin typeface="Roboto Bold"/>
                <a:ea typeface="Roboto Bold"/>
                <a:cs typeface="Roboto Bold"/>
                <a:sym typeface="Roboto Bold"/>
              </a:rPr>
              <a:t>Baseline drift irregular peaks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7214575" y="7182764"/>
            <a:ext cx="1264418" cy="2154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27"/>
              </a:lnSpc>
            </a:pPr>
            <a:r>
              <a:rPr lang="en-US" sz="1406" b="1" spc="-13">
                <a:solidFill>
                  <a:srgbClr val="081D49"/>
                </a:solidFill>
                <a:latin typeface="Roboto Bold"/>
                <a:ea typeface="Roboto Bold"/>
                <a:cs typeface="Roboto Bold"/>
                <a:sym typeface="Roboto Bold"/>
              </a:rPr>
              <a:t>Signal dropout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11508727" y="4686654"/>
            <a:ext cx="1057009" cy="2498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740" b="1" spc="-16">
                <a:solidFill>
                  <a:srgbClr val="081D49"/>
                </a:solidFill>
                <a:latin typeface="Roboto Bold"/>
                <a:ea typeface="Roboto Bold"/>
                <a:cs typeface="Roboto Bold"/>
                <a:sym typeface="Roboto Bold"/>
              </a:rPr>
              <a:t>Warnings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9393440" y="7182764"/>
            <a:ext cx="1139360" cy="2154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27"/>
              </a:lnSpc>
            </a:pPr>
            <a:r>
              <a:rPr lang="en-US" sz="1406" b="1" spc="-13">
                <a:solidFill>
                  <a:srgbClr val="081D49"/>
                </a:solidFill>
                <a:latin typeface="Roboto Bold"/>
                <a:ea typeface="Roboto Bold"/>
                <a:cs typeface="Roboto Bold"/>
                <a:sym typeface="Roboto Bold"/>
              </a:rPr>
              <a:t>Mixed quality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1188992" y="7182764"/>
            <a:ext cx="1046194" cy="2154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27"/>
              </a:lnSpc>
            </a:pPr>
            <a:r>
              <a:rPr lang="en-US" sz="1406" b="1" spc="-13">
                <a:solidFill>
                  <a:srgbClr val="081D49"/>
                </a:solidFill>
                <a:latin typeface="Roboto Bold"/>
                <a:ea typeface="Roboto Bold"/>
                <a:cs typeface="Roboto Bold"/>
                <a:sym typeface="Roboto Bold"/>
              </a:rPr>
              <a:t>Clean signal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5248200" y="7182764"/>
            <a:ext cx="1127375" cy="2154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27"/>
              </a:lnSpc>
            </a:pPr>
            <a:r>
              <a:rPr lang="en-US" sz="1406" b="1" spc="-13">
                <a:solidFill>
                  <a:srgbClr val="081D49"/>
                </a:solidFill>
                <a:latin typeface="Roboto Bold"/>
                <a:ea typeface="Roboto Bold"/>
                <a:cs typeface="Roboto Bold"/>
                <a:sym typeface="Roboto Bold"/>
              </a:rPr>
              <a:t>Baseline drift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15424099" y="4351308"/>
            <a:ext cx="640144" cy="1660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02"/>
              </a:lnSpc>
            </a:pPr>
            <a:r>
              <a:rPr lang="en-US" sz="1078" b="1" spc="-10">
                <a:solidFill>
                  <a:srgbClr val="081D49"/>
                </a:solidFill>
                <a:latin typeface="Roboto Bold"/>
                <a:ea typeface="Roboto Bold"/>
                <a:cs typeface="Roboto Bold"/>
                <a:sym typeface="Roboto Bold"/>
              </a:rPr>
              <a:t>Warnings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52505" y="369728"/>
            <a:ext cx="12969841" cy="848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83"/>
              </a:lnSpc>
            </a:pPr>
            <a:r>
              <a:rPr lang="en-US" sz="5568" b="1" spc="-54">
                <a:solidFill>
                  <a:srgbClr val="081534"/>
                </a:solidFill>
                <a:latin typeface="Roboto Bold"/>
                <a:ea typeface="Roboto Bold"/>
                <a:cs typeface="Roboto Bold"/>
                <a:sym typeface="Roboto Bold"/>
              </a:rPr>
              <a:t>Explainable Analysis, Not Just a Score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81075" y="1363744"/>
            <a:ext cx="10112797" cy="3843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0"/>
              </a:lnSpc>
            </a:pPr>
            <a:r>
              <a:rPr lang="en-US" sz="2558" spc="-24">
                <a:solidFill>
                  <a:srgbClr val="081534"/>
                </a:solidFill>
                <a:latin typeface="Roboto"/>
                <a:ea typeface="Roboto"/>
                <a:cs typeface="Roboto"/>
                <a:sym typeface="Roboto"/>
              </a:rPr>
              <a:t>Transparent quality score shows why a reading is reliable—or not.</a:t>
            </a:r>
          </a:p>
        </p:txBody>
      </p:sp>
      <p:sp>
        <p:nvSpPr>
          <p:cNvPr id="5" name="Freeform 5"/>
          <p:cNvSpPr/>
          <p:nvPr/>
        </p:nvSpPr>
        <p:spPr>
          <a:xfrm>
            <a:off x="426574" y="1924030"/>
            <a:ext cx="9592450" cy="3869923"/>
          </a:xfrm>
          <a:custGeom>
            <a:avLst/>
            <a:gdLst/>
            <a:ahLst/>
            <a:cxnLst/>
            <a:rect l="l" t="t" r="r" b="b"/>
            <a:pathLst>
              <a:path w="9592450" h="3869923">
                <a:moveTo>
                  <a:pt x="0" y="0"/>
                </a:moveTo>
                <a:lnTo>
                  <a:pt x="9592450" y="0"/>
                </a:lnTo>
                <a:lnTo>
                  <a:pt x="9592450" y="3869923"/>
                </a:lnTo>
                <a:lnTo>
                  <a:pt x="0" y="38699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426574" y="1924030"/>
            <a:ext cx="3062584" cy="863627"/>
          </a:xfrm>
          <a:custGeom>
            <a:avLst/>
            <a:gdLst/>
            <a:ahLst/>
            <a:cxnLst/>
            <a:rect l="l" t="t" r="r" b="b"/>
            <a:pathLst>
              <a:path w="3062584" h="863627">
                <a:moveTo>
                  <a:pt x="0" y="0"/>
                </a:moveTo>
                <a:lnTo>
                  <a:pt x="3062584" y="0"/>
                </a:lnTo>
                <a:lnTo>
                  <a:pt x="3062584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864731" y="2237273"/>
            <a:ext cx="2096552" cy="312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6"/>
              </a:lnSpc>
            </a:pPr>
            <a:r>
              <a:rPr lang="en-US" sz="2088" b="1" spc="-2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SIGNAL REVIEW</a:t>
            </a:r>
          </a:p>
        </p:txBody>
      </p:sp>
      <p:sp>
        <p:nvSpPr>
          <p:cNvPr id="8" name="Freeform 8"/>
          <p:cNvSpPr/>
          <p:nvPr/>
        </p:nvSpPr>
        <p:spPr>
          <a:xfrm>
            <a:off x="1082842" y="2776725"/>
            <a:ext cx="229694" cy="2590881"/>
          </a:xfrm>
          <a:custGeom>
            <a:avLst/>
            <a:gdLst/>
            <a:ahLst/>
            <a:cxnLst/>
            <a:rect l="l" t="t" r="r" b="b"/>
            <a:pathLst>
              <a:path w="229694" h="2590881">
                <a:moveTo>
                  <a:pt x="0" y="0"/>
                </a:moveTo>
                <a:lnTo>
                  <a:pt x="229694" y="0"/>
                </a:lnTo>
                <a:lnTo>
                  <a:pt x="229694" y="2590881"/>
                </a:lnTo>
                <a:lnTo>
                  <a:pt x="0" y="25908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082842" y="3421712"/>
            <a:ext cx="8717426" cy="1508614"/>
          </a:xfrm>
          <a:custGeom>
            <a:avLst/>
            <a:gdLst/>
            <a:ahLst/>
            <a:cxnLst/>
            <a:rect l="l" t="t" r="r" b="b"/>
            <a:pathLst>
              <a:path w="8717426" h="1508614">
                <a:moveTo>
                  <a:pt x="0" y="0"/>
                </a:moveTo>
                <a:lnTo>
                  <a:pt x="8717426" y="0"/>
                </a:lnTo>
                <a:lnTo>
                  <a:pt x="8717426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4572000" y="3214004"/>
            <a:ext cx="2395378" cy="1934962"/>
          </a:xfrm>
          <a:custGeom>
            <a:avLst/>
            <a:gdLst/>
            <a:ahLst/>
            <a:cxnLst/>
            <a:rect l="l" t="t" r="r" b="b"/>
            <a:pathLst>
              <a:path w="2395378" h="1934962">
                <a:moveTo>
                  <a:pt x="0" y="0"/>
                </a:moveTo>
                <a:lnTo>
                  <a:pt x="2395378" y="0"/>
                </a:lnTo>
                <a:lnTo>
                  <a:pt x="2395378" y="1934962"/>
                </a:lnTo>
                <a:lnTo>
                  <a:pt x="0" y="193496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4831025" y="2939597"/>
            <a:ext cx="1800454" cy="2498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88"/>
              </a:lnSpc>
            </a:pPr>
            <a:r>
              <a:rPr lang="en-US" sz="1740" b="1" spc="-16">
                <a:solidFill>
                  <a:srgbClr val="D97916"/>
                </a:solidFill>
                <a:latin typeface="Roboto Bold"/>
                <a:ea typeface="Roboto Bold"/>
                <a:cs typeface="Roboto Bold"/>
                <a:sym typeface="Roboto Bold"/>
              </a:rPr>
              <a:t>Artifact detected</a:t>
            </a:r>
          </a:p>
        </p:txBody>
      </p:sp>
      <p:sp>
        <p:nvSpPr>
          <p:cNvPr id="12" name="Freeform 12"/>
          <p:cNvSpPr/>
          <p:nvPr/>
        </p:nvSpPr>
        <p:spPr>
          <a:xfrm>
            <a:off x="1082842" y="5138034"/>
            <a:ext cx="8717426" cy="229572"/>
          </a:xfrm>
          <a:custGeom>
            <a:avLst/>
            <a:gdLst/>
            <a:ahLst/>
            <a:cxnLst/>
            <a:rect l="l" t="t" r="r" b="b"/>
            <a:pathLst>
              <a:path w="8717426" h="229572">
                <a:moveTo>
                  <a:pt x="0" y="0"/>
                </a:moveTo>
                <a:lnTo>
                  <a:pt x="8717426" y="0"/>
                </a:lnTo>
                <a:lnTo>
                  <a:pt x="8717426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426574" y="5783021"/>
            <a:ext cx="11112804" cy="3651284"/>
          </a:xfrm>
          <a:custGeom>
            <a:avLst/>
            <a:gdLst/>
            <a:ahLst/>
            <a:cxnLst/>
            <a:rect l="l" t="t" r="r" b="b"/>
            <a:pathLst>
              <a:path w="11112804" h="3651284">
                <a:moveTo>
                  <a:pt x="0" y="0"/>
                </a:moveTo>
                <a:lnTo>
                  <a:pt x="11112804" y="0"/>
                </a:lnTo>
                <a:lnTo>
                  <a:pt x="11112804" y="3651284"/>
                </a:lnTo>
                <a:lnTo>
                  <a:pt x="0" y="365128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645330" y="6428009"/>
            <a:ext cx="2625072" cy="1934962"/>
          </a:xfrm>
          <a:custGeom>
            <a:avLst/>
            <a:gdLst/>
            <a:ahLst/>
            <a:cxnLst/>
            <a:rect l="l" t="t" r="r" b="b"/>
            <a:pathLst>
              <a:path w="2625072" h="1934962">
                <a:moveTo>
                  <a:pt x="0" y="0"/>
                </a:moveTo>
                <a:lnTo>
                  <a:pt x="2625072" y="0"/>
                </a:lnTo>
                <a:lnTo>
                  <a:pt x="2625072" y="1934961"/>
                </a:lnTo>
                <a:lnTo>
                  <a:pt x="0" y="193496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1081502" y="7058280"/>
            <a:ext cx="1713910" cy="5677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89"/>
              </a:lnSpc>
            </a:pPr>
            <a:r>
              <a:rPr lang="en-US" sz="1634" spc="-15">
                <a:solidFill>
                  <a:srgbClr val="081534"/>
                </a:solidFill>
                <a:latin typeface="Roboto"/>
                <a:ea typeface="Roboto"/>
                <a:cs typeface="Roboto"/>
                <a:sym typeface="Roboto"/>
              </a:rPr>
              <a:t>Stable signal with minimal artifacts</a:t>
            </a:r>
          </a:p>
        </p:txBody>
      </p:sp>
      <p:sp>
        <p:nvSpPr>
          <p:cNvPr id="16" name="Freeform 16"/>
          <p:cNvSpPr/>
          <p:nvPr/>
        </p:nvSpPr>
        <p:spPr>
          <a:xfrm>
            <a:off x="3040708" y="7499343"/>
            <a:ext cx="448450" cy="218640"/>
          </a:xfrm>
          <a:custGeom>
            <a:avLst/>
            <a:gdLst/>
            <a:ahLst/>
            <a:cxnLst/>
            <a:rect l="l" t="t" r="r" b="b"/>
            <a:pathLst>
              <a:path w="448450" h="218640">
                <a:moveTo>
                  <a:pt x="0" y="0"/>
                </a:moveTo>
                <a:lnTo>
                  <a:pt x="448450" y="0"/>
                </a:lnTo>
                <a:lnTo>
                  <a:pt x="448450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3259464" y="6428009"/>
            <a:ext cx="2406316" cy="1934962"/>
          </a:xfrm>
          <a:custGeom>
            <a:avLst/>
            <a:gdLst/>
            <a:ahLst/>
            <a:cxnLst/>
            <a:rect l="l" t="t" r="r" b="b"/>
            <a:pathLst>
              <a:path w="2406316" h="1934962">
                <a:moveTo>
                  <a:pt x="0" y="0"/>
                </a:moveTo>
                <a:lnTo>
                  <a:pt x="2406316" y="0"/>
                </a:lnTo>
                <a:lnTo>
                  <a:pt x="2406316" y="1934961"/>
                </a:lnTo>
                <a:lnTo>
                  <a:pt x="0" y="193496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3438026" y="6629503"/>
            <a:ext cx="2052743" cy="2498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88"/>
              </a:lnSpc>
            </a:pPr>
            <a:r>
              <a:rPr lang="en-US" sz="1740" spc="-1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Moderate concerns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545016" y="7085002"/>
            <a:ext cx="1847334" cy="8515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87"/>
              </a:lnSpc>
            </a:pPr>
            <a:r>
              <a:rPr lang="en-US" sz="1705" spc="-16">
                <a:solidFill>
                  <a:srgbClr val="081534"/>
                </a:solidFill>
                <a:latin typeface="Roboto"/>
                <a:ea typeface="Roboto"/>
                <a:cs typeface="Roboto"/>
                <a:sym typeface="Roboto"/>
              </a:rPr>
              <a:t>Some issues detected that may affect accuracy</a:t>
            </a:r>
          </a:p>
        </p:txBody>
      </p:sp>
      <p:sp>
        <p:nvSpPr>
          <p:cNvPr id="20" name="Freeform 20"/>
          <p:cNvSpPr/>
          <p:nvPr/>
        </p:nvSpPr>
        <p:spPr>
          <a:xfrm>
            <a:off x="5873598" y="6428009"/>
            <a:ext cx="2406316" cy="1934962"/>
          </a:xfrm>
          <a:custGeom>
            <a:avLst/>
            <a:gdLst/>
            <a:ahLst/>
            <a:cxnLst/>
            <a:rect l="l" t="t" r="r" b="b"/>
            <a:pathLst>
              <a:path w="2406316" h="1934962">
                <a:moveTo>
                  <a:pt x="0" y="0"/>
                </a:moveTo>
                <a:lnTo>
                  <a:pt x="2406316" y="0"/>
                </a:lnTo>
                <a:lnTo>
                  <a:pt x="2406316" y="1934961"/>
                </a:lnTo>
                <a:lnTo>
                  <a:pt x="0" y="1934961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6285841" y="7048674"/>
            <a:ext cx="1431498" cy="8101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599" spc="-15">
                <a:solidFill>
                  <a:srgbClr val="081534"/>
                </a:solidFill>
                <a:latin typeface="Roboto"/>
                <a:ea typeface="Roboto"/>
                <a:cs typeface="Roboto"/>
                <a:sym typeface="Roboto"/>
              </a:rPr>
              <a:t>Multiple issues likely impact reliability</a:t>
            </a:r>
          </a:p>
        </p:txBody>
      </p:sp>
      <p:sp>
        <p:nvSpPr>
          <p:cNvPr id="22" name="Freeform 22"/>
          <p:cNvSpPr/>
          <p:nvPr/>
        </p:nvSpPr>
        <p:spPr>
          <a:xfrm>
            <a:off x="8268976" y="6428009"/>
            <a:ext cx="2625072" cy="1934962"/>
          </a:xfrm>
          <a:custGeom>
            <a:avLst/>
            <a:gdLst/>
            <a:ahLst/>
            <a:cxnLst/>
            <a:rect l="l" t="t" r="r" b="b"/>
            <a:pathLst>
              <a:path w="2625072" h="1934962">
                <a:moveTo>
                  <a:pt x="0" y="0"/>
                </a:moveTo>
                <a:lnTo>
                  <a:pt x="2625072" y="0"/>
                </a:lnTo>
                <a:lnTo>
                  <a:pt x="2625072" y="1934961"/>
                </a:lnTo>
                <a:lnTo>
                  <a:pt x="0" y="1934961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8747016" y="7048674"/>
            <a:ext cx="1599068" cy="8101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599" spc="-15">
                <a:solidFill>
                  <a:srgbClr val="081534"/>
                </a:solidFill>
                <a:latin typeface="Roboto"/>
                <a:ea typeface="Roboto"/>
                <a:cs typeface="Roboto"/>
                <a:sym typeface="Roboto"/>
              </a:rPr>
              <a:t>Not enough data to assess reliability</a:t>
            </a:r>
          </a:p>
        </p:txBody>
      </p:sp>
      <p:sp>
        <p:nvSpPr>
          <p:cNvPr id="24" name="Freeform 24"/>
          <p:cNvSpPr/>
          <p:nvPr/>
        </p:nvSpPr>
        <p:spPr>
          <a:xfrm>
            <a:off x="1739110" y="8570678"/>
            <a:ext cx="7842402" cy="218640"/>
          </a:xfrm>
          <a:custGeom>
            <a:avLst/>
            <a:gdLst/>
            <a:ahLst/>
            <a:cxnLst/>
            <a:rect l="l" t="t" r="r" b="b"/>
            <a:pathLst>
              <a:path w="7842402" h="218640">
                <a:moveTo>
                  <a:pt x="0" y="0"/>
                </a:moveTo>
                <a:lnTo>
                  <a:pt x="7842402" y="0"/>
                </a:lnTo>
                <a:lnTo>
                  <a:pt x="7842402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1739110" y="8133399"/>
            <a:ext cx="448450" cy="655919"/>
          </a:xfrm>
          <a:custGeom>
            <a:avLst/>
            <a:gdLst/>
            <a:ahLst/>
            <a:cxnLst/>
            <a:rect l="l" t="t" r="r" b="b"/>
            <a:pathLst>
              <a:path w="448450" h="655919">
                <a:moveTo>
                  <a:pt x="0" y="0"/>
                </a:moveTo>
                <a:lnTo>
                  <a:pt x="448450" y="0"/>
                </a:lnTo>
                <a:lnTo>
                  <a:pt x="448450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4353244" y="8133399"/>
            <a:ext cx="218756" cy="655919"/>
          </a:xfrm>
          <a:custGeom>
            <a:avLst/>
            <a:gdLst/>
            <a:ahLst/>
            <a:cxnLst/>
            <a:rect l="l" t="t" r="r" b="b"/>
            <a:pathLst>
              <a:path w="218756" h="655919">
                <a:moveTo>
                  <a:pt x="0" y="0"/>
                </a:moveTo>
                <a:lnTo>
                  <a:pt x="218756" y="0"/>
                </a:lnTo>
                <a:lnTo>
                  <a:pt x="218756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6748622" y="8133399"/>
            <a:ext cx="437512" cy="655919"/>
          </a:xfrm>
          <a:custGeom>
            <a:avLst/>
            <a:gdLst/>
            <a:ahLst/>
            <a:cxnLst/>
            <a:rect l="l" t="t" r="r" b="b"/>
            <a:pathLst>
              <a:path w="437512" h="655919">
                <a:moveTo>
                  <a:pt x="0" y="0"/>
                </a:moveTo>
                <a:lnTo>
                  <a:pt x="437512" y="0"/>
                </a:lnTo>
                <a:lnTo>
                  <a:pt x="437512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9351818" y="8133399"/>
            <a:ext cx="448450" cy="655919"/>
          </a:xfrm>
          <a:custGeom>
            <a:avLst/>
            <a:gdLst/>
            <a:ahLst/>
            <a:cxnLst/>
            <a:rect l="l" t="t" r="r" b="b"/>
            <a:pathLst>
              <a:path w="448450" h="655919">
                <a:moveTo>
                  <a:pt x="0" y="0"/>
                </a:moveTo>
                <a:lnTo>
                  <a:pt x="448450" y="0"/>
                </a:lnTo>
                <a:lnTo>
                  <a:pt x="448450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</p:sp>
      <p:sp>
        <p:nvSpPr>
          <p:cNvPr id="29" name="TextBox 29"/>
          <p:cNvSpPr txBox="1"/>
          <p:nvPr/>
        </p:nvSpPr>
        <p:spPr>
          <a:xfrm>
            <a:off x="3121843" y="8858507"/>
            <a:ext cx="6605553" cy="2498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740" spc="-16">
                <a:solidFill>
                  <a:srgbClr val="D97916"/>
                </a:solidFill>
                <a:latin typeface="Roboto"/>
                <a:ea typeface="Roboto"/>
                <a:cs typeface="Roboto"/>
                <a:sym typeface="Roboto"/>
              </a:rPr>
              <a:t>Contributing factors and flagged intervals are shown for review</a:t>
            </a:r>
          </a:p>
        </p:txBody>
      </p:sp>
      <p:sp>
        <p:nvSpPr>
          <p:cNvPr id="30" name="Freeform 30"/>
          <p:cNvSpPr/>
          <p:nvPr/>
        </p:nvSpPr>
        <p:spPr>
          <a:xfrm>
            <a:off x="426574" y="9204733"/>
            <a:ext cx="17434852" cy="1082267"/>
          </a:xfrm>
          <a:custGeom>
            <a:avLst/>
            <a:gdLst/>
            <a:ahLst/>
            <a:cxnLst/>
            <a:rect l="l" t="t" r="r" b="b"/>
            <a:pathLst>
              <a:path w="17434852" h="1082267">
                <a:moveTo>
                  <a:pt x="0" y="0"/>
                </a:moveTo>
                <a:lnTo>
                  <a:pt x="17434852" y="0"/>
                </a:lnTo>
                <a:lnTo>
                  <a:pt x="17434852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10008086" y="1924030"/>
            <a:ext cx="3281340" cy="3869923"/>
          </a:xfrm>
          <a:custGeom>
            <a:avLst/>
            <a:gdLst/>
            <a:ahLst/>
            <a:cxnLst/>
            <a:rect l="l" t="t" r="r" b="b"/>
            <a:pathLst>
              <a:path w="3281340" h="3869923">
                <a:moveTo>
                  <a:pt x="0" y="0"/>
                </a:moveTo>
                <a:lnTo>
                  <a:pt x="3281340" y="0"/>
                </a:lnTo>
                <a:lnTo>
                  <a:pt x="3281340" y="3869923"/>
                </a:lnTo>
                <a:lnTo>
                  <a:pt x="0" y="3869923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/>
            </a:stretch>
          </a:blipFill>
        </p:spPr>
      </p:sp>
      <p:sp>
        <p:nvSpPr>
          <p:cNvPr id="32" name="TextBox 32"/>
          <p:cNvSpPr txBox="1"/>
          <p:nvPr/>
        </p:nvSpPr>
        <p:spPr>
          <a:xfrm>
            <a:off x="10352673" y="2337163"/>
            <a:ext cx="1800681" cy="2498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88"/>
              </a:lnSpc>
            </a:pPr>
            <a:r>
              <a:rPr lang="en-US" sz="1740" b="1" spc="-16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QUALITY SCORE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0406221" y="2824645"/>
            <a:ext cx="1472425" cy="14015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007"/>
              </a:lnSpc>
            </a:pPr>
            <a:r>
              <a:rPr lang="en-US" sz="9171" b="1" spc="-89">
                <a:solidFill>
                  <a:srgbClr val="038096"/>
                </a:solidFill>
                <a:latin typeface="Roboto Bold"/>
                <a:ea typeface="Roboto Bold"/>
                <a:cs typeface="Roboto Bold"/>
                <a:sym typeface="Roboto Bold"/>
              </a:rPr>
              <a:t>62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398749" y="4390973"/>
            <a:ext cx="2219643" cy="277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4"/>
              </a:lnSpc>
            </a:pPr>
            <a:r>
              <a:rPr lang="en-US" sz="1862" b="1" spc="-18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Moderate concerns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0396796" y="4964658"/>
            <a:ext cx="2414966" cy="466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49"/>
              </a:lnSpc>
            </a:pPr>
            <a:r>
              <a:rPr lang="en-US" sz="1392" spc="-1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Score shown only when enough evidence is available</a:t>
            </a:r>
          </a:p>
        </p:txBody>
      </p:sp>
      <p:sp>
        <p:nvSpPr>
          <p:cNvPr id="36" name="Freeform 36"/>
          <p:cNvSpPr/>
          <p:nvPr/>
        </p:nvSpPr>
        <p:spPr>
          <a:xfrm>
            <a:off x="13059732" y="1924030"/>
            <a:ext cx="4801694" cy="3869923"/>
          </a:xfrm>
          <a:custGeom>
            <a:avLst/>
            <a:gdLst/>
            <a:ahLst/>
            <a:cxnLst/>
            <a:rect l="l" t="t" r="r" b="b"/>
            <a:pathLst>
              <a:path w="4801694" h="3869923">
                <a:moveTo>
                  <a:pt x="0" y="0"/>
                </a:moveTo>
                <a:lnTo>
                  <a:pt x="4801694" y="0"/>
                </a:lnTo>
                <a:lnTo>
                  <a:pt x="4801694" y="3869923"/>
                </a:lnTo>
                <a:lnTo>
                  <a:pt x="0" y="3869923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/>
            </a:stretch>
          </a:blipFill>
        </p:spPr>
      </p:sp>
      <p:sp>
        <p:nvSpPr>
          <p:cNvPr id="37" name="TextBox 37"/>
          <p:cNvSpPr txBox="1"/>
          <p:nvPr/>
        </p:nvSpPr>
        <p:spPr>
          <a:xfrm>
            <a:off x="13416487" y="2307041"/>
            <a:ext cx="2437291" cy="2498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88"/>
              </a:lnSpc>
            </a:pPr>
            <a:r>
              <a:rPr lang="en-US" sz="1740" b="1" spc="-16">
                <a:solidFill>
                  <a:srgbClr val="038096"/>
                </a:solidFill>
                <a:latin typeface="Roboto Bold"/>
                <a:ea typeface="Roboto Bold"/>
                <a:cs typeface="Roboto Bold"/>
                <a:sym typeface="Roboto Bold"/>
              </a:rPr>
              <a:t>SCORE COMPONENTS</a:t>
            </a:r>
          </a:p>
        </p:txBody>
      </p:sp>
      <p:sp>
        <p:nvSpPr>
          <p:cNvPr id="38" name="Freeform 38"/>
          <p:cNvSpPr/>
          <p:nvPr/>
        </p:nvSpPr>
        <p:spPr>
          <a:xfrm>
            <a:off x="13497244" y="2995365"/>
            <a:ext cx="3926670" cy="437279"/>
          </a:xfrm>
          <a:custGeom>
            <a:avLst/>
            <a:gdLst/>
            <a:ahLst/>
            <a:cxnLst/>
            <a:rect l="l" t="t" r="r" b="b"/>
            <a:pathLst>
              <a:path w="3926670" h="437279">
                <a:moveTo>
                  <a:pt x="0" y="0"/>
                </a:moveTo>
                <a:lnTo>
                  <a:pt x="3926670" y="0"/>
                </a:lnTo>
                <a:lnTo>
                  <a:pt x="392667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/>
            </a:stretch>
          </a:blipFill>
        </p:spPr>
      </p:sp>
      <p:sp>
        <p:nvSpPr>
          <p:cNvPr id="39" name="Freeform 39"/>
          <p:cNvSpPr/>
          <p:nvPr/>
        </p:nvSpPr>
        <p:spPr>
          <a:xfrm>
            <a:off x="13497244" y="3848060"/>
            <a:ext cx="3926670" cy="229572"/>
          </a:xfrm>
          <a:custGeom>
            <a:avLst/>
            <a:gdLst/>
            <a:ahLst/>
            <a:cxnLst/>
            <a:rect l="l" t="t" r="r" b="b"/>
            <a:pathLst>
              <a:path w="3926670" h="229572">
                <a:moveTo>
                  <a:pt x="0" y="0"/>
                </a:moveTo>
                <a:lnTo>
                  <a:pt x="3926670" y="0"/>
                </a:lnTo>
                <a:lnTo>
                  <a:pt x="3926670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/>
            </a:stretch>
          </a:blipFill>
        </p:spPr>
      </p:sp>
      <p:sp>
        <p:nvSpPr>
          <p:cNvPr id="40" name="TextBox 40"/>
          <p:cNvSpPr txBox="1"/>
          <p:nvPr/>
        </p:nvSpPr>
        <p:spPr>
          <a:xfrm>
            <a:off x="13534521" y="4264951"/>
            <a:ext cx="2074414" cy="2498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740" b="1" spc="-16">
                <a:solidFill>
                  <a:srgbClr val="081534"/>
                </a:solidFill>
                <a:latin typeface="Roboto Bold"/>
                <a:ea typeface="Roboto Bold"/>
                <a:cs typeface="Roboto Bold"/>
                <a:sym typeface="Roboto Bold"/>
              </a:rPr>
              <a:t>Motion disturbance</a:t>
            </a:r>
          </a:p>
        </p:txBody>
      </p:sp>
      <p:sp>
        <p:nvSpPr>
          <p:cNvPr id="41" name="Freeform 41"/>
          <p:cNvSpPr/>
          <p:nvPr/>
        </p:nvSpPr>
        <p:spPr>
          <a:xfrm>
            <a:off x="13497244" y="4493047"/>
            <a:ext cx="3926670" cy="437279"/>
          </a:xfrm>
          <a:custGeom>
            <a:avLst/>
            <a:gdLst/>
            <a:ahLst/>
            <a:cxnLst/>
            <a:rect l="l" t="t" r="r" b="b"/>
            <a:pathLst>
              <a:path w="3926670" h="437279">
                <a:moveTo>
                  <a:pt x="0" y="0"/>
                </a:moveTo>
                <a:lnTo>
                  <a:pt x="3926670" y="0"/>
                </a:lnTo>
                <a:lnTo>
                  <a:pt x="392667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/>
            </a:stretch>
          </a:blipFill>
        </p:spPr>
      </p:sp>
      <p:sp>
        <p:nvSpPr>
          <p:cNvPr id="42" name="Freeform 42"/>
          <p:cNvSpPr/>
          <p:nvPr/>
        </p:nvSpPr>
        <p:spPr>
          <a:xfrm>
            <a:off x="13497244" y="5138034"/>
            <a:ext cx="3926670" cy="437279"/>
          </a:xfrm>
          <a:custGeom>
            <a:avLst/>
            <a:gdLst/>
            <a:ahLst/>
            <a:cxnLst/>
            <a:rect l="l" t="t" r="r" b="b"/>
            <a:pathLst>
              <a:path w="3926670" h="437279">
                <a:moveTo>
                  <a:pt x="0" y="0"/>
                </a:moveTo>
                <a:lnTo>
                  <a:pt x="3926670" y="0"/>
                </a:lnTo>
                <a:lnTo>
                  <a:pt x="392667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/>
            </a:stretch>
          </a:blipFill>
        </p:spPr>
      </p:sp>
      <p:sp>
        <p:nvSpPr>
          <p:cNvPr id="43" name="Freeform 43"/>
          <p:cNvSpPr/>
          <p:nvPr/>
        </p:nvSpPr>
        <p:spPr>
          <a:xfrm>
            <a:off x="11320622" y="5783021"/>
            <a:ext cx="6540804" cy="3651284"/>
          </a:xfrm>
          <a:custGeom>
            <a:avLst/>
            <a:gdLst/>
            <a:ahLst/>
            <a:cxnLst/>
            <a:rect l="l" t="t" r="r" b="b"/>
            <a:pathLst>
              <a:path w="6540804" h="3651284">
                <a:moveTo>
                  <a:pt x="0" y="0"/>
                </a:moveTo>
                <a:lnTo>
                  <a:pt x="6540804" y="0"/>
                </a:lnTo>
                <a:lnTo>
                  <a:pt x="6540804" y="3651284"/>
                </a:lnTo>
                <a:lnTo>
                  <a:pt x="0" y="3651284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/>
            </a:stretch>
          </a:blipFill>
        </p:spPr>
      </p:sp>
      <p:sp>
        <p:nvSpPr>
          <p:cNvPr id="44" name="TextBox 44"/>
          <p:cNvSpPr txBox="1"/>
          <p:nvPr/>
        </p:nvSpPr>
        <p:spPr>
          <a:xfrm>
            <a:off x="12695321" y="6057191"/>
            <a:ext cx="3191145" cy="2498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88"/>
              </a:lnSpc>
            </a:pPr>
            <a:r>
              <a:rPr lang="en-US" sz="1740" b="1" spc="-16">
                <a:solidFill>
                  <a:srgbClr val="038096"/>
                </a:solidFill>
                <a:latin typeface="Roboto Bold"/>
                <a:ea typeface="Roboto Bold"/>
                <a:cs typeface="Roboto Bold"/>
                <a:sym typeface="Roboto Bold"/>
              </a:rPr>
              <a:t>PHYSIOLOGICAL VALIDATION</a:t>
            </a:r>
          </a:p>
        </p:txBody>
      </p:sp>
      <p:sp>
        <p:nvSpPr>
          <p:cNvPr id="45" name="Freeform 45"/>
          <p:cNvSpPr/>
          <p:nvPr/>
        </p:nvSpPr>
        <p:spPr>
          <a:xfrm>
            <a:off x="11965952" y="6428009"/>
            <a:ext cx="5239206" cy="1934962"/>
          </a:xfrm>
          <a:custGeom>
            <a:avLst/>
            <a:gdLst/>
            <a:ahLst/>
            <a:cxnLst/>
            <a:rect l="l" t="t" r="r" b="b"/>
            <a:pathLst>
              <a:path w="5239206" h="1934962">
                <a:moveTo>
                  <a:pt x="0" y="0"/>
                </a:moveTo>
                <a:lnTo>
                  <a:pt x="5239206" y="0"/>
                </a:lnTo>
                <a:lnTo>
                  <a:pt x="5239206" y="1934961"/>
                </a:lnTo>
                <a:lnTo>
                  <a:pt x="0" y="1934961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/>
            </a:stretch>
          </a:blipFill>
        </p:spPr>
      </p:sp>
      <p:sp>
        <p:nvSpPr>
          <p:cNvPr id="46" name="TextBox 46"/>
          <p:cNvSpPr txBox="1"/>
          <p:nvPr/>
        </p:nvSpPr>
        <p:spPr>
          <a:xfrm>
            <a:off x="13270668" y="6722905"/>
            <a:ext cx="2466397" cy="6844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6"/>
              </a:lnSpc>
            </a:pPr>
            <a:r>
              <a:rPr lang="en-US" sz="2003" spc="-19">
                <a:solidFill>
                  <a:srgbClr val="081534"/>
                </a:solidFill>
                <a:latin typeface="Roboto"/>
                <a:ea typeface="Roboto"/>
                <a:cs typeface="Roboto"/>
                <a:sym typeface="Roboto"/>
              </a:rPr>
              <a:t>Configured pediatric reference range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3298272" y="7598932"/>
            <a:ext cx="1589178" cy="4735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59"/>
              </a:lnSpc>
            </a:pPr>
            <a:r>
              <a:rPr lang="en-US" sz="3132" b="1" spc="-30">
                <a:solidFill>
                  <a:srgbClr val="038096"/>
                </a:solidFill>
                <a:latin typeface="Roboto Bold"/>
                <a:ea typeface="Roboto Bold"/>
                <a:cs typeface="Roboto Bold"/>
                <a:sym typeface="Roboto Bold"/>
              </a:rPr>
              <a:t>80 – 150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5021031" y="7619529"/>
            <a:ext cx="763272" cy="4295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41"/>
              </a:lnSpc>
            </a:pPr>
            <a:r>
              <a:rPr lang="en-US" sz="2784" b="1" spc="-27">
                <a:solidFill>
                  <a:srgbClr val="081534"/>
                </a:solidFill>
                <a:latin typeface="Roboto Bold"/>
                <a:ea typeface="Roboto Bold"/>
                <a:cs typeface="Roboto Bold"/>
                <a:sym typeface="Roboto Bold"/>
              </a:rPr>
              <a:t>bpm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2493895" y="8738020"/>
            <a:ext cx="4092809" cy="2498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88"/>
              </a:lnSpc>
            </a:pPr>
            <a:r>
              <a:rPr lang="en-US" sz="1740" spc="-16">
                <a:solidFill>
                  <a:srgbClr val="038096"/>
                </a:solidFill>
                <a:latin typeface="Roboto"/>
                <a:ea typeface="Roboto"/>
                <a:cs typeface="Roboto"/>
                <a:sym typeface="Roboto"/>
              </a:rPr>
              <a:t>Clinical reference range not configured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2518059" y="9602024"/>
            <a:ext cx="10726887" cy="295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83"/>
              </a:lnSpc>
            </a:pPr>
            <a:r>
              <a:rPr lang="en-US" sz="1986" spc="-19">
                <a:solidFill>
                  <a:srgbClr val="081534"/>
                </a:solidFill>
                <a:latin typeface="Roboto"/>
                <a:ea typeface="Roboto"/>
                <a:cs typeface="Roboto"/>
                <a:sym typeface="Roboto"/>
              </a:rPr>
              <a:t>Quality score is a heuristic indicator, not a clinical diagnosis or treatment recommendation.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837540" y="6057191"/>
            <a:ext cx="2334708" cy="2498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88"/>
              </a:lnSpc>
            </a:pPr>
            <a:r>
              <a:rPr lang="en-US" sz="1740" b="1" spc="-16">
                <a:solidFill>
                  <a:srgbClr val="038096"/>
                </a:solidFill>
                <a:latin typeface="Roboto Bold"/>
                <a:ea typeface="Roboto Bold"/>
                <a:cs typeface="Roboto Bold"/>
                <a:sym typeface="Roboto Bold"/>
              </a:rPr>
              <a:t>QUALITY OUTCOMES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3539015" y="4972810"/>
            <a:ext cx="1625077" cy="2498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740" b="1" spc="-16">
                <a:solidFill>
                  <a:srgbClr val="081534"/>
                </a:solidFill>
                <a:latin typeface="Roboto Bold"/>
                <a:ea typeface="Roboto Bold"/>
                <a:cs typeface="Roboto Bold"/>
                <a:sym typeface="Roboto Bold"/>
              </a:rPr>
              <a:t>Contact quality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8464378" y="6629503"/>
            <a:ext cx="2123091" cy="2498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88"/>
              </a:lnSpc>
            </a:pPr>
            <a:r>
              <a:rPr lang="en-US" sz="1740" spc="-1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Insufficect evidence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3540874" y="2834171"/>
            <a:ext cx="1439140" cy="2498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740" b="1" spc="-16">
                <a:solidFill>
                  <a:srgbClr val="081534"/>
                </a:solidFill>
                <a:latin typeface="Roboto Bold"/>
                <a:ea typeface="Roboto Bold"/>
                <a:cs typeface="Roboto Bold"/>
                <a:sym typeface="Roboto Bold"/>
              </a:rPr>
              <a:t>Data integrity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13540915" y="3542030"/>
            <a:ext cx="1435027" cy="2498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740" b="1" spc="-16">
                <a:solidFill>
                  <a:srgbClr val="081534"/>
                </a:solidFill>
                <a:latin typeface="Roboto Bold"/>
                <a:ea typeface="Roboto Bold"/>
                <a:cs typeface="Roboto Bold"/>
                <a:sym typeface="Roboto Bold"/>
              </a:rPr>
              <a:t>Signal quality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813324" y="9602024"/>
            <a:ext cx="1713684" cy="277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6"/>
              </a:lnSpc>
            </a:pPr>
            <a:r>
              <a:rPr lang="en-US" sz="1863" b="1" spc="-18">
                <a:solidFill>
                  <a:srgbClr val="D97916"/>
                </a:solidFill>
                <a:latin typeface="Roboto Bold"/>
                <a:ea typeface="Roboto Bold"/>
                <a:cs typeface="Roboto Bold"/>
                <a:sym typeface="Roboto Bold"/>
              </a:rPr>
              <a:t>SAFETY NOTE: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13538955" y="8442340"/>
            <a:ext cx="1631045" cy="22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7"/>
              </a:lnSpc>
            </a:pPr>
            <a:r>
              <a:rPr lang="en-US" sz="1513" b="1" spc="-14">
                <a:solidFill>
                  <a:srgbClr val="081534"/>
                </a:solidFill>
                <a:latin typeface="Roboto Bold"/>
                <a:ea typeface="Roboto Bold"/>
                <a:cs typeface="Roboto Bold"/>
                <a:sym typeface="Roboto Bold"/>
              </a:rPr>
              <a:t> If not configured: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1301852" y="6629503"/>
            <a:ext cx="1273210" cy="2498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88"/>
              </a:lnSpc>
            </a:pPr>
            <a:r>
              <a:rPr lang="en-US" sz="1740" b="1" spc="-16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High quality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6390880" y="6629503"/>
            <a:ext cx="1221419" cy="2498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88"/>
              </a:lnSpc>
            </a:pPr>
            <a:r>
              <a:rPr lang="en-US" sz="1740" b="1" spc="-16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Low quality</a:t>
            </a:r>
          </a:p>
        </p:txBody>
      </p:sp>
      <p:sp>
        <p:nvSpPr>
          <p:cNvPr id="60" name="TextBox 60"/>
          <p:cNvSpPr txBox="1"/>
          <p:nvPr/>
        </p:nvSpPr>
        <p:spPr>
          <a:xfrm rot="-5400000">
            <a:off x="718177" y="3888430"/>
            <a:ext cx="656943" cy="2498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88"/>
              </a:lnSpc>
            </a:pPr>
            <a:r>
              <a:rPr lang="en-US" sz="1740" b="1" spc="-16">
                <a:solidFill>
                  <a:srgbClr val="081534"/>
                </a:solidFill>
                <a:latin typeface="Roboto Bold"/>
                <a:ea typeface="Roboto Bold"/>
                <a:cs typeface="Roboto Bold"/>
                <a:sym typeface="Roboto Bold"/>
              </a:rPr>
              <a:t>Signal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11941095" y="3743357"/>
            <a:ext cx="499606" cy="277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4"/>
              </a:lnSpc>
            </a:pPr>
            <a:r>
              <a:rPr lang="en-US" sz="1862" b="1" spc="-18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/100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5146420" y="5319210"/>
            <a:ext cx="533691" cy="2498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88"/>
              </a:lnSpc>
            </a:pPr>
            <a:r>
              <a:rPr lang="en-US" sz="1740" b="1" spc="-16">
                <a:solidFill>
                  <a:srgbClr val="081534"/>
                </a:solidFill>
                <a:latin typeface="Roboto Bold"/>
                <a:ea typeface="Roboto Bold"/>
                <a:cs typeface="Roboto Bold"/>
                <a:sym typeface="Roboto Bold"/>
              </a:rPr>
              <a:t>Time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17038591" y="2824646"/>
            <a:ext cx="283371" cy="277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34"/>
              </a:lnSpc>
            </a:pPr>
            <a:r>
              <a:rPr lang="en-US" sz="1862" b="1" spc="-18">
                <a:solidFill>
                  <a:srgbClr val="038096"/>
                </a:solidFill>
                <a:latin typeface="Roboto Bold"/>
                <a:ea typeface="Roboto Bold"/>
                <a:cs typeface="Roboto Bold"/>
                <a:sym typeface="Roboto Bold"/>
              </a:rPr>
              <a:t>78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17039413" y="4963285"/>
            <a:ext cx="282541" cy="277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34"/>
              </a:lnSpc>
            </a:pPr>
            <a:r>
              <a:rPr lang="en-US" sz="1862" b="1" spc="-18">
                <a:solidFill>
                  <a:srgbClr val="038096"/>
                </a:solidFill>
                <a:latin typeface="Roboto Bold"/>
                <a:ea typeface="Roboto Bold"/>
                <a:cs typeface="Roboto Bold"/>
                <a:sym typeface="Roboto Bold"/>
              </a:rPr>
              <a:t>72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17018628" y="3532505"/>
            <a:ext cx="303536" cy="277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34"/>
              </a:lnSpc>
            </a:pPr>
            <a:r>
              <a:rPr lang="en-US" sz="1862" b="1" spc="-18">
                <a:solidFill>
                  <a:srgbClr val="038096"/>
                </a:solidFill>
                <a:latin typeface="Roboto Bold"/>
                <a:ea typeface="Roboto Bold"/>
                <a:cs typeface="Roboto Bold"/>
                <a:sym typeface="Roboto Bold"/>
              </a:rPr>
              <a:t>54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17073820" y="4264349"/>
            <a:ext cx="247787" cy="259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31"/>
              </a:lnSpc>
            </a:pPr>
            <a:r>
              <a:rPr lang="en-US" sz="1692" b="1" spc="-16">
                <a:solidFill>
                  <a:srgbClr val="038096"/>
                </a:solidFill>
                <a:latin typeface="Roboto Bold"/>
                <a:ea typeface="Roboto Bold"/>
                <a:cs typeface="Roboto Bold"/>
                <a:sym typeface="Roboto Bold"/>
              </a:rPr>
              <a:t>41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25904" y="429972"/>
            <a:ext cx="12951019" cy="7769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81"/>
              </a:lnSpc>
            </a:pPr>
            <a:r>
              <a:rPr lang="en-US" sz="5150" b="1" spc="-103">
                <a:solidFill>
                  <a:srgbClr val="071947"/>
                </a:solidFill>
                <a:latin typeface="Roboto Bold"/>
                <a:ea typeface="Roboto Bold"/>
                <a:cs typeface="Roboto Bold"/>
                <a:sym typeface="Roboto Bold"/>
              </a:rPr>
              <a:t>One Dashboard for Measurement Analysis</a:t>
            </a:r>
          </a:p>
        </p:txBody>
      </p:sp>
      <p:sp>
        <p:nvSpPr>
          <p:cNvPr id="4" name="Freeform 4"/>
          <p:cNvSpPr/>
          <p:nvPr/>
        </p:nvSpPr>
        <p:spPr>
          <a:xfrm>
            <a:off x="207818" y="9204733"/>
            <a:ext cx="17653608" cy="1082267"/>
          </a:xfrm>
          <a:custGeom>
            <a:avLst/>
            <a:gdLst/>
            <a:ahLst/>
            <a:cxnLst/>
            <a:rect l="l" t="t" r="r" b="b"/>
            <a:pathLst>
              <a:path w="17653608" h="1082267">
                <a:moveTo>
                  <a:pt x="0" y="0"/>
                </a:moveTo>
                <a:lnTo>
                  <a:pt x="17653608" y="0"/>
                </a:lnTo>
                <a:lnTo>
                  <a:pt x="17653608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3729487" y="9577438"/>
            <a:ext cx="10434509" cy="375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24"/>
              </a:lnSpc>
            </a:pPr>
            <a:r>
              <a:rPr lang="en-US" sz="2436" spc="-48">
                <a:solidFill>
                  <a:srgbClr val="091949"/>
                </a:solidFill>
                <a:latin typeface="Roboto"/>
                <a:ea typeface="Roboto"/>
                <a:cs typeface="Roboto"/>
                <a:sym typeface="Roboto"/>
              </a:rPr>
              <a:t>Dashboard is a </a:t>
            </a:r>
            <a:r>
              <a:rPr lang="en-US" sz="2436" b="1" spc="-48">
                <a:solidFill>
                  <a:srgbClr val="0289A8"/>
                </a:solidFill>
                <a:latin typeface="Roboto Bold"/>
                <a:ea typeface="Roboto Bold"/>
                <a:cs typeface="Roboto Bold"/>
                <a:sym typeface="Roboto Bold"/>
              </a:rPr>
              <a:t>conceptual mockup</a:t>
            </a:r>
            <a:r>
              <a:rPr lang="en-US" sz="2436" spc="-48">
                <a:solidFill>
                  <a:srgbClr val="091949"/>
                </a:solidFill>
                <a:latin typeface="Roboto"/>
                <a:ea typeface="Roboto"/>
                <a:cs typeface="Roboto"/>
                <a:sym typeface="Roboto"/>
              </a:rPr>
              <a:t> pending implementation verification.</a:t>
            </a:r>
          </a:p>
        </p:txBody>
      </p:sp>
      <p:sp>
        <p:nvSpPr>
          <p:cNvPr id="6" name="Freeform 6"/>
          <p:cNvSpPr/>
          <p:nvPr/>
        </p:nvSpPr>
        <p:spPr>
          <a:xfrm>
            <a:off x="426574" y="1924030"/>
            <a:ext cx="11769072" cy="7510275"/>
          </a:xfrm>
          <a:custGeom>
            <a:avLst/>
            <a:gdLst/>
            <a:ahLst/>
            <a:cxnLst/>
            <a:rect l="l" t="t" r="r" b="b"/>
            <a:pathLst>
              <a:path w="11769072" h="7510275">
                <a:moveTo>
                  <a:pt x="0" y="0"/>
                </a:moveTo>
                <a:lnTo>
                  <a:pt x="11769072" y="0"/>
                </a:lnTo>
                <a:lnTo>
                  <a:pt x="11769072" y="7510275"/>
                </a:lnTo>
                <a:lnTo>
                  <a:pt x="0" y="75102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082842" y="2569017"/>
            <a:ext cx="3062584" cy="655919"/>
          </a:xfrm>
          <a:custGeom>
            <a:avLst/>
            <a:gdLst/>
            <a:ahLst/>
            <a:cxnLst/>
            <a:rect l="l" t="t" r="r" b="b"/>
            <a:pathLst>
              <a:path w="3062584" h="655919">
                <a:moveTo>
                  <a:pt x="0" y="0"/>
                </a:moveTo>
                <a:lnTo>
                  <a:pt x="3062584" y="0"/>
                </a:lnTo>
                <a:lnTo>
                  <a:pt x="3062584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452416" y="2794524"/>
            <a:ext cx="2098238" cy="187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283" spc="-25">
                <a:solidFill>
                  <a:srgbClr val="071947"/>
                </a:solidFill>
                <a:latin typeface="Roboto"/>
                <a:ea typeface="Roboto"/>
                <a:cs typeface="Roboto"/>
                <a:sym typeface="Roboto"/>
              </a:rPr>
              <a:t>Sim Case Q7 – Motion + Cry</a:t>
            </a:r>
          </a:p>
        </p:txBody>
      </p:sp>
      <p:sp>
        <p:nvSpPr>
          <p:cNvPr id="9" name="Freeform 9"/>
          <p:cNvSpPr/>
          <p:nvPr/>
        </p:nvSpPr>
        <p:spPr>
          <a:xfrm>
            <a:off x="3696976" y="2776725"/>
            <a:ext cx="448450" cy="229572"/>
          </a:xfrm>
          <a:custGeom>
            <a:avLst/>
            <a:gdLst/>
            <a:ahLst/>
            <a:cxnLst/>
            <a:rect l="l" t="t" r="r" b="b"/>
            <a:pathLst>
              <a:path w="448450" h="229572">
                <a:moveTo>
                  <a:pt x="0" y="0"/>
                </a:moveTo>
                <a:lnTo>
                  <a:pt x="448450" y="0"/>
                </a:lnTo>
                <a:lnTo>
                  <a:pt x="448450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6748622" y="2350377"/>
            <a:ext cx="2187560" cy="655919"/>
          </a:xfrm>
          <a:custGeom>
            <a:avLst/>
            <a:gdLst/>
            <a:ahLst/>
            <a:cxnLst/>
            <a:rect l="l" t="t" r="r" b="b"/>
            <a:pathLst>
              <a:path w="2187560" h="655919">
                <a:moveTo>
                  <a:pt x="0" y="0"/>
                </a:moveTo>
                <a:lnTo>
                  <a:pt x="2187560" y="0"/>
                </a:lnTo>
                <a:lnTo>
                  <a:pt x="2187560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6956440" y="2569017"/>
            <a:ext cx="448450" cy="437279"/>
          </a:xfrm>
          <a:custGeom>
            <a:avLst/>
            <a:gdLst/>
            <a:ahLst/>
            <a:cxnLst/>
            <a:rect l="l" t="t" r="r" b="b"/>
            <a:pathLst>
              <a:path w="448450" h="437279">
                <a:moveTo>
                  <a:pt x="0" y="0"/>
                </a:moveTo>
                <a:lnTo>
                  <a:pt x="448450" y="0"/>
                </a:lnTo>
                <a:lnTo>
                  <a:pt x="44845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8706488" y="2350377"/>
            <a:ext cx="2625072" cy="655919"/>
          </a:xfrm>
          <a:custGeom>
            <a:avLst/>
            <a:gdLst/>
            <a:ahLst/>
            <a:cxnLst/>
            <a:rect l="l" t="t" r="r" b="b"/>
            <a:pathLst>
              <a:path w="2625072" h="655919">
                <a:moveTo>
                  <a:pt x="0" y="0"/>
                </a:moveTo>
                <a:lnTo>
                  <a:pt x="2625072" y="0"/>
                </a:lnTo>
                <a:lnTo>
                  <a:pt x="2625072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8925244" y="2569017"/>
            <a:ext cx="437512" cy="437279"/>
          </a:xfrm>
          <a:custGeom>
            <a:avLst/>
            <a:gdLst/>
            <a:ahLst/>
            <a:cxnLst/>
            <a:rect l="l" t="t" r="r" b="b"/>
            <a:pathLst>
              <a:path w="437512" h="437279">
                <a:moveTo>
                  <a:pt x="0" y="0"/>
                </a:moveTo>
                <a:lnTo>
                  <a:pt x="437512" y="0"/>
                </a:lnTo>
                <a:lnTo>
                  <a:pt x="437512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9386345" y="2583673"/>
            <a:ext cx="1661610" cy="2415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2"/>
              </a:lnSpc>
            </a:pPr>
            <a:r>
              <a:rPr lang="en-US" sz="1634" spc="-3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Download Report</a:t>
            </a:r>
          </a:p>
        </p:txBody>
      </p:sp>
      <p:sp>
        <p:nvSpPr>
          <p:cNvPr id="15" name="Freeform 15"/>
          <p:cNvSpPr/>
          <p:nvPr/>
        </p:nvSpPr>
        <p:spPr>
          <a:xfrm>
            <a:off x="1082842" y="3214004"/>
            <a:ext cx="6103292" cy="1934962"/>
          </a:xfrm>
          <a:custGeom>
            <a:avLst/>
            <a:gdLst/>
            <a:ahLst/>
            <a:cxnLst/>
            <a:rect l="l" t="t" r="r" b="b"/>
            <a:pathLst>
              <a:path w="6103292" h="1934962">
                <a:moveTo>
                  <a:pt x="0" y="0"/>
                </a:moveTo>
                <a:lnTo>
                  <a:pt x="6103292" y="0"/>
                </a:lnTo>
                <a:lnTo>
                  <a:pt x="6103292" y="1934962"/>
                </a:lnTo>
                <a:lnTo>
                  <a:pt x="0" y="193496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739110" y="3640352"/>
            <a:ext cx="5228268" cy="863627"/>
          </a:xfrm>
          <a:custGeom>
            <a:avLst/>
            <a:gdLst/>
            <a:ahLst/>
            <a:cxnLst/>
            <a:rect l="l" t="t" r="r" b="b"/>
            <a:pathLst>
              <a:path w="5228268" h="863627">
                <a:moveTo>
                  <a:pt x="0" y="0"/>
                </a:moveTo>
                <a:lnTo>
                  <a:pt x="5228268" y="0"/>
                </a:lnTo>
                <a:lnTo>
                  <a:pt x="5228268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3986250" y="4707251"/>
            <a:ext cx="535744" cy="170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371"/>
              </a:lnSpc>
            </a:pPr>
            <a:r>
              <a:rPr lang="en-US" sz="1142" spc="-22">
                <a:solidFill>
                  <a:srgbClr val="071947"/>
                </a:solidFill>
                <a:latin typeface="Roboto"/>
                <a:ea typeface="Roboto"/>
                <a:cs typeface="Roboto"/>
                <a:sym typeface="Roboto"/>
              </a:rPr>
              <a:t>Time (s)</a:t>
            </a:r>
          </a:p>
        </p:txBody>
      </p:sp>
      <p:sp>
        <p:nvSpPr>
          <p:cNvPr id="18" name="Freeform 18"/>
          <p:cNvSpPr/>
          <p:nvPr/>
        </p:nvSpPr>
        <p:spPr>
          <a:xfrm>
            <a:off x="1082842" y="4919394"/>
            <a:ext cx="3281340" cy="2153601"/>
          </a:xfrm>
          <a:custGeom>
            <a:avLst/>
            <a:gdLst/>
            <a:ahLst/>
            <a:cxnLst/>
            <a:rect l="l" t="t" r="r" b="b"/>
            <a:pathLst>
              <a:path w="3281340" h="2153601">
                <a:moveTo>
                  <a:pt x="0" y="0"/>
                </a:moveTo>
                <a:lnTo>
                  <a:pt x="3281340" y="0"/>
                </a:lnTo>
                <a:lnTo>
                  <a:pt x="3281340" y="2153602"/>
                </a:lnTo>
                <a:lnTo>
                  <a:pt x="0" y="2153602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2211707" y="5591888"/>
            <a:ext cx="594713" cy="4295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3"/>
              </a:lnSpc>
            </a:pPr>
            <a:r>
              <a:rPr lang="en-US" sz="2794" b="1" spc="-55">
                <a:solidFill>
                  <a:srgbClr val="0289A8"/>
                </a:solidFill>
                <a:latin typeface="Roboto Bold"/>
                <a:ea typeface="Roboto Bold"/>
                <a:cs typeface="Roboto Bold"/>
                <a:sym typeface="Roboto Bold"/>
              </a:rPr>
              <a:t>118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915985" y="5776571"/>
            <a:ext cx="402244" cy="22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7"/>
              </a:lnSpc>
            </a:pPr>
            <a:r>
              <a:rPr lang="en-US" sz="1513" spc="-30">
                <a:solidFill>
                  <a:srgbClr val="1F275D"/>
                </a:solidFill>
                <a:latin typeface="Roboto"/>
                <a:ea typeface="Roboto"/>
                <a:cs typeface="Roboto"/>
                <a:sym typeface="Roboto"/>
              </a:rPr>
              <a:t>bpm</a:t>
            </a:r>
          </a:p>
        </p:txBody>
      </p:sp>
      <p:sp>
        <p:nvSpPr>
          <p:cNvPr id="21" name="Freeform 21"/>
          <p:cNvSpPr/>
          <p:nvPr/>
        </p:nvSpPr>
        <p:spPr>
          <a:xfrm>
            <a:off x="1520354" y="5990729"/>
            <a:ext cx="2406316" cy="655919"/>
          </a:xfrm>
          <a:custGeom>
            <a:avLst/>
            <a:gdLst/>
            <a:ahLst/>
            <a:cxnLst/>
            <a:rect l="l" t="t" r="r" b="b"/>
            <a:pathLst>
              <a:path w="2406316" h="655919">
                <a:moveTo>
                  <a:pt x="0" y="0"/>
                </a:moveTo>
                <a:lnTo>
                  <a:pt x="2406316" y="0"/>
                </a:lnTo>
                <a:lnTo>
                  <a:pt x="2406316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4134488" y="4919394"/>
            <a:ext cx="3051646" cy="2153601"/>
          </a:xfrm>
          <a:custGeom>
            <a:avLst/>
            <a:gdLst/>
            <a:ahLst/>
            <a:cxnLst/>
            <a:rect l="l" t="t" r="r" b="b"/>
            <a:pathLst>
              <a:path w="3051646" h="2153601">
                <a:moveTo>
                  <a:pt x="0" y="0"/>
                </a:moveTo>
                <a:lnTo>
                  <a:pt x="3051646" y="0"/>
                </a:lnTo>
                <a:lnTo>
                  <a:pt x="3051646" y="2153602"/>
                </a:lnTo>
                <a:lnTo>
                  <a:pt x="0" y="2153602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5347438" y="5556194"/>
            <a:ext cx="484736" cy="5009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05"/>
              </a:lnSpc>
            </a:pPr>
            <a:r>
              <a:rPr lang="en-US" sz="3254" b="1" spc="-65">
                <a:solidFill>
                  <a:srgbClr val="0289A8"/>
                </a:solidFill>
                <a:latin typeface="Roboto Bold"/>
                <a:ea typeface="Roboto Bold"/>
                <a:cs typeface="Roboto Bold"/>
                <a:sym typeface="Roboto Bold"/>
              </a:rPr>
              <a:t>97</a:t>
            </a:r>
          </a:p>
        </p:txBody>
      </p:sp>
      <p:sp>
        <p:nvSpPr>
          <p:cNvPr id="24" name="Freeform 24"/>
          <p:cNvSpPr/>
          <p:nvPr/>
        </p:nvSpPr>
        <p:spPr>
          <a:xfrm>
            <a:off x="4353244" y="5990729"/>
            <a:ext cx="2614134" cy="655919"/>
          </a:xfrm>
          <a:custGeom>
            <a:avLst/>
            <a:gdLst/>
            <a:ahLst/>
            <a:cxnLst/>
            <a:rect l="l" t="t" r="r" b="b"/>
            <a:pathLst>
              <a:path w="2614134" h="655919">
                <a:moveTo>
                  <a:pt x="0" y="0"/>
                </a:moveTo>
                <a:lnTo>
                  <a:pt x="2614134" y="0"/>
                </a:lnTo>
                <a:lnTo>
                  <a:pt x="2614134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25" name="TextBox 25"/>
          <p:cNvSpPr txBox="1"/>
          <p:nvPr/>
        </p:nvSpPr>
        <p:spPr>
          <a:xfrm>
            <a:off x="5323308" y="6619978"/>
            <a:ext cx="771543" cy="1701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1165" spc="-23">
                <a:solidFill>
                  <a:srgbClr val="1F275D"/>
                </a:solidFill>
                <a:latin typeface="Roboto"/>
                <a:ea typeface="Roboto"/>
                <a:cs typeface="Roboto"/>
                <a:sym typeface="Roboto"/>
              </a:rPr>
              <a:t> Time (min)</a:t>
            </a:r>
          </a:p>
        </p:txBody>
      </p:sp>
      <p:sp>
        <p:nvSpPr>
          <p:cNvPr id="26" name="Freeform 26"/>
          <p:cNvSpPr/>
          <p:nvPr/>
        </p:nvSpPr>
        <p:spPr>
          <a:xfrm>
            <a:off x="1082842" y="6854356"/>
            <a:ext cx="10248718" cy="1934962"/>
          </a:xfrm>
          <a:custGeom>
            <a:avLst/>
            <a:gdLst/>
            <a:ahLst/>
            <a:cxnLst/>
            <a:rect l="l" t="t" r="r" b="b"/>
            <a:pathLst>
              <a:path w="10248718" h="1934962">
                <a:moveTo>
                  <a:pt x="0" y="0"/>
                </a:moveTo>
                <a:lnTo>
                  <a:pt x="10248718" y="0"/>
                </a:lnTo>
                <a:lnTo>
                  <a:pt x="10248718" y="1934962"/>
                </a:lnTo>
                <a:lnTo>
                  <a:pt x="0" y="1934962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1520354" y="7499343"/>
            <a:ext cx="2625072" cy="437279"/>
          </a:xfrm>
          <a:custGeom>
            <a:avLst/>
            <a:gdLst/>
            <a:ahLst/>
            <a:cxnLst/>
            <a:rect l="l" t="t" r="r" b="b"/>
            <a:pathLst>
              <a:path w="2625072" h="437279">
                <a:moveTo>
                  <a:pt x="0" y="0"/>
                </a:moveTo>
                <a:lnTo>
                  <a:pt x="2625072" y="0"/>
                </a:lnTo>
                <a:lnTo>
                  <a:pt x="2625072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2821952" y="7499343"/>
            <a:ext cx="1323474" cy="437279"/>
          </a:xfrm>
          <a:custGeom>
            <a:avLst/>
            <a:gdLst/>
            <a:ahLst/>
            <a:cxnLst/>
            <a:rect l="l" t="t" r="r" b="b"/>
            <a:pathLst>
              <a:path w="1323474" h="437279">
                <a:moveTo>
                  <a:pt x="0" y="0"/>
                </a:moveTo>
                <a:lnTo>
                  <a:pt x="1323474" y="0"/>
                </a:lnTo>
                <a:lnTo>
                  <a:pt x="1323474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3259464" y="8352038"/>
            <a:ext cx="448450" cy="229572"/>
          </a:xfrm>
          <a:custGeom>
            <a:avLst/>
            <a:gdLst/>
            <a:ahLst/>
            <a:cxnLst/>
            <a:rect l="l" t="t" r="r" b="b"/>
            <a:pathLst>
              <a:path w="448450" h="229572">
                <a:moveTo>
                  <a:pt x="0" y="0"/>
                </a:moveTo>
                <a:lnTo>
                  <a:pt x="448450" y="0"/>
                </a:lnTo>
                <a:lnTo>
                  <a:pt x="448450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</p:sp>
      <p:sp>
        <p:nvSpPr>
          <p:cNvPr id="30" name="Freeform 30"/>
          <p:cNvSpPr/>
          <p:nvPr/>
        </p:nvSpPr>
        <p:spPr>
          <a:xfrm>
            <a:off x="4998574" y="7499343"/>
            <a:ext cx="3281340" cy="437279"/>
          </a:xfrm>
          <a:custGeom>
            <a:avLst/>
            <a:gdLst/>
            <a:ahLst/>
            <a:cxnLst/>
            <a:rect l="l" t="t" r="r" b="b"/>
            <a:pathLst>
              <a:path w="3281340" h="437279">
                <a:moveTo>
                  <a:pt x="0" y="0"/>
                </a:moveTo>
                <a:lnTo>
                  <a:pt x="3281340" y="0"/>
                </a:lnTo>
                <a:lnTo>
                  <a:pt x="3281340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/>
            </a:stretch>
          </a:blipFill>
        </p:spPr>
      </p:sp>
      <p:sp>
        <p:nvSpPr>
          <p:cNvPr id="31" name="TextBox 31"/>
          <p:cNvSpPr txBox="1"/>
          <p:nvPr/>
        </p:nvSpPr>
        <p:spPr>
          <a:xfrm>
            <a:off x="5032220" y="7990514"/>
            <a:ext cx="412419" cy="1701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1165" spc="-23">
                <a:solidFill>
                  <a:srgbClr val="1F275D"/>
                </a:solidFill>
                <a:latin typeface="Roboto"/>
                <a:ea typeface="Roboto"/>
                <a:cs typeface="Roboto"/>
                <a:sym typeface="Roboto"/>
              </a:rPr>
              <a:t>02:00</a:t>
            </a:r>
          </a:p>
        </p:txBody>
      </p:sp>
      <p:sp>
        <p:nvSpPr>
          <p:cNvPr id="32" name="Freeform 32"/>
          <p:cNvSpPr/>
          <p:nvPr/>
        </p:nvSpPr>
        <p:spPr>
          <a:xfrm>
            <a:off x="4998574" y="7499343"/>
            <a:ext cx="229694" cy="644987"/>
          </a:xfrm>
          <a:custGeom>
            <a:avLst/>
            <a:gdLst/>
            <a:ahLst/>
            <a:cxnLst/>
            <a:rect l="l" t="t" r="r" b="b"/>
            <a:pathLst>
              <a:path w="229694" h="644987">
                <a:moveTo>
                  <a:pt x="0" y="0"/>
                </a:moveTo>
                <a:lnTo>
                  <a:pt x="229694" y="0"/>
                </a:lnTo>
                <a:lnTo>
                  <a:pt x="229694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/>
            </a:stretch>
          </a:blipFill>
        </p:spPr>
      </p:sp>
      <p:sp>
        <p:nvSpPr>
          <p:cNvPr id="33" name="TextBox 33"/>
          <p:cNvSpPr txBox="1"/>
          <p:nvPr/>
        </p:nvSpPr>
        <p:spPr>
          <a:xfrm>
            <a:off x="6987798" y="7990514"/>
            <a:ext cx="414717" cy="1701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1165" spc="-23">
                <a:solidFill>
                  <a:srgbClr val="1F275D"/>
                </a:solidFill>
                <a:latin typeface="Roboto"/>
                <a:ea typeface="Roboto"/>
                <a:cs typeface="Roboto"/>
                <a:sym typeface="Roboto"/>
              </a:rPr>
              <a:t>03:00</a:t>
            </a:r>
          </a:p>
        </p:txBody>
      </p:sp>
      <p:sp>
        <p:nvSpPr>
          <p:cNvPr id="34" name="Freeform 34"/>
          <p:cNvSpPr/>
          <p:nvPr/>
        </p:nvSpPr>
        <p:spPr>
          <a:xfrm>
            <a:off x="6956440" y="7499343"/>
            <a:ext cx="1323474" cy="437279"/>
          </a:xfrm>
          <a:custGeom>
            <a:avLst/>
            <a:gdLst/>
            <a:ahLst/>
            <a:cxnLst/>
            <a:rect l="l" t="t" r="r" b="b"/>
            <a:pathLst>
              <a:path w="1323474" h="437279">
                <a:moveTo>
                  <a:pt x="0" y="0"/>
                </a:moveTo>
                <a:lnTo>
                  <a:pt x="1323474" y="0"/>
                </a:lnTo>
                <a:lnTo>
                  <a:pt x="1323474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/>
            </a:stretch>
          </a:blipFill>
        </p:spPr>
      </p:sp>
      <p:sp>
        <p:nvSpPr>
          <p:cNvPr id="35" name="Freeform 35"/>
          <p:cNvSpPr/>
          <p:nvPr/>
        </p:nvSpPr>
        <p:spPr>
          <a:xfrm>
            <a:off x="5654842" y="8352038"/>
            <a:ext cx="448450" cy="229572"/>
          </a:xfrm>
          <a:custGeom>
            <a:avLst/>
            <a:gdLst/>
            <a:ahLst/>
            <a:cxnLst/>
            <a:rect l="l" t="t" r="r" b="b"/>
            <a:pathLst>
              <a:path w="448450" h="229572">
                <a:moveTo>
                  <a:pt x="0" y="0"/>
                </a:moveTo>
                <a:lnTo>
                  <a:pt x="448450" y="0"/>
                </a:lnTo>
                <a:lnTo>
                  <a:pt x="448450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/>
            </a:stretch>
          </a:blipFill>
        </p:spPr>
      </p:sp>
      <p:sp>
        <p:nvSpPr>
          <p:cNvPr id="36" name="Freeform 36"/>
          <p:cNvSpPr/>
          <p:nvPr/>
        </p:nvSpPr>
        <p:spPr>
          <a:xfrm>
            <a:off x="8925244" y="7499343"/>
            <a:ext cx="1968804" cy="437279"/>
          </a:xfrm>
          <a:custGeom>
            <a:avLst/>
            <a:gdLst/>
            <a:ahLst/>
            <a:cxnLst/>
            <a:rect l="l" t="t" r="r" b="b"/>
            <a:pathLst>
              <a:path w="1968804" h="437279">
                <a:moveTo>
                  <a:pt x="0" y="0"/>
                </a:moveTo>
                <a:lnTo>
                  <a:pt x="1968804" y="0"/>
                </a:lnTo>
                <a:lnTo>
                  <a:pt x="1968804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/>
            </a:stretch>
          </a:blipFill>
        </p:spPr>
      </p:sp>
      <p:sp>
        <p:nvSpPr>
          <p:cNvPr id="37" name="Freeform 37"/>
          <p:cNvSpPr/>
          <p:nvPr/>
        </p:nvSpPr>
        <p:spPr>
          <a:xfrm>
            <a:off x="8925244" y="7499343"/>
            <a:ext cx="218756" cy="644987"/>
          </a:xfrm>
          <a:custGeom>
            <a:avLst/>
            <a:gdLst/>
            <a:ahLst/>
            <a:cxnLst/>
            <a:rect l="l" t="t" r="r" b="b"/>
            <a:pathLst>
              <a:path w="218756" h="644987">
                <a:moveTo>
                  <a:pt x="0" y="0"/>
                </a:moveTo>
                <a:lnTo>
                  <a:pt x="218756" y="0"/>
                </a:lnTo>
                <a:lnTo>
                  <a:pt x="218756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/>
            </a:stretch>
          </a:blipFill>
        </p:spPr>
      </p:sp>
      <p:sp>
        <p:nvSpPr>
          <p:cNvPr id="38" name="Freeform 38"/>
          <p:cNvSpPr/>
          <p:nvPr/>
        </p:nvSpPr>
        <p:spPr>
          <a:xfrm>
            <a:off x="10664354" y="7499343"/>
            <a:ext cx="229694" cy="644987"/>
          </a:xfrm>
          <a:custGeom>
            <a:avLst/>
            <a:gdLst/>
            <a:ahLst/>
            <a:cxnLst/>
            <a:rect l="l" t="t" r="r" b="b"/>
            <a:pathLst>
              <a:path w="229694" h="644987">
                <a:moveTo>
                  <a:pt x="0" y="0"/>
                </a:moveTo>
                <a:lnTo>
                  <a:pt x="229694" y="0"/>
                </a:lnTo>
                <a:lnTo>
                  <a:pt x="229694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/>
            </a:stretch>
          </a:blipFill>
        </p:spPr>
      </p:sp>
      <p:sp>
        <p:nvSpPr>
          <p:cNvPr id="39" name="Freeform 39"/>
          <p:cNvSpPr/>
          <p:nvPr/>
        </p:nvSpPr>
        <p:spPr>
          <a:xfrm>
            <a:off x="7831464" y="8133399"/>
            <a:ext cx="448450" cy="448211"/>
          </a:xfrm>
          <a:custGeom>
            <a:avLst/>
            <a:gdLst/>
            <a:ahLst/>
            <a:cxnLst/>
            <a:rect l="l" t="t" r="r" b="b"/>
            <a:pathLst>
              <a:path w="448450" h="448211">
                <a:moveTo>
                  <a:pt x="0" y="0"/>
                </a:moveTo>
                <a:lnTo>
                  <a:pt x="448450" y="0"/>
                </a:lnTo>
                <a:lnTo>
                  <a:pt x="448450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/>
            </a:stretch>
          </a:blipFill>
        </p:spPr>
      </p:sp>
      <p:sp>
        <p:nvSpPr>
          <p:cNvPr id="40" name="Freeform 40"/>
          <p:cNvSpPr/>
          <p:nvPr/>
        </p:nvSpPr>
        <p:spPr>
          <a:xfrm>
            <a:off x="12184708" y="1924030"/>
            <a:ext cx="5676718" cy="4296271"/>
          </a:xfrm>
          <a:custGeom>
            <a:avLst/>
            <a:gdLst/>
            <a:ahLst/>
            <a:cxnLst/>
            <a:rect l="l" t="t" r="r" b="b"/>
            <a:pathLst>
              <a:path w="5676718" h="4296271">
                <a:moveTo>
                  <a:pt x="0" y="0"/>
                </a:moveTo>
                <a:lnTo>
                  <a:pt x="5676718" y="0"/>
                </a:lnTo>
                <a:lnTo>
                  <a:pt x="5676718" y="4296271"/>
                </a:lnTo>
                <a:lnTo>
                  <a:pt x="0" y="4296271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>
              <a:fillRect/>
            </a:stretch>
          </a:blipFill>
        </p:spPr>
      </p:sp>
      <p:sp>
        <p:nvSpPr>
          <p:cNvPr id="41" name="TextBox 41"/>
          <p:cNvSpPr txBox="1"/>
          <p:nvPr/>
        </p:nvSpPr>
        <p:spPr>
          <a:xfrm>
            <a:off x="12644893" y="2131847"/>
            <a:ext cx="2633393" cy="295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83"/>
              </a:lnSpc>
            </a:pPr>
            <a:r>
              <a:rPr lang="en-US" sz="1986" b="1" spc="-39">
                <a:solidFill>
                  <a:srgbClr val="088EAA"/>
                </a:solidFill>
                <a:latin typeface="Roboto Bold"/>
                <a:ea typeface="Roboto Bold"/>
                <a:cs typeface="Roboto Bold"/>
                <a:sym typeface="Roboto Bold"/>
              </a:rPr>
              <a:t>TECHNOLOGY STACK</a:t>
            </a:r>
          </a:p>
        </p:txBody>
      </p:sp>
      <p:sp>
        <p:nvSpPr>
          <p:cNvPr id="42" name="Freeform 42"/>
          <p:cNvSpPr/>
          <p:nvPr/>
        </p:nvSpPr>
        <p:spPr>
          <a:xfrm>
            <a:off x="12622220" y="2569017"/>
            <a:ext cx="1531292" cy="863627"/>
          </a:xfrm>
          <a:custGeom>
            <a:avLst/>
            <a:gdLst/>
            <a:ahLst/>
            <a:cxnLst/>
            <a:rect l="l" t="t" r="r" b="b"/>
            <a:pathLst>
              <a:path w="1531292" h="863627">
                <a:moveTo>
                  <a:pt x="0" y="0"/>
                </a:moveTo>
                <a:lnTo>
                  <a:pt x="1531292" y="0"/>
                </a:lnTo>
                <a:lnTo>
                  <a:pt x="1531292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>
              <a:fillRect/>
            </a:stretch>
          </a:blipFill>
        </p:spPr>
      </p:sp>
      <p:sp>
        <p:nvSpPr>
          <p:cNvPr id="43" name="TextBox 43"/>
          <p:cNvSpPr txBox="1"/>
          <p:nvPr/>
        </p:nvSpPr>
        <p:spPr>
          <a:xfrm>
            <a:off x="14393599" y="2645431"/>
            <a:ext cx="1891629" cy="5660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87"/>
              </a:lnSpc>
            </a:pPr>
            <a:r>
              <a:rPr lang="en-US" sz="1705" spc="-34">
                <a:solidFill>
                  <a:srgbClr val="071947"/>
                </a:solidFill>
                <a:latin typeface="Roboto"/>
                <a:ea typeface="Roboto"/>
                <a:cs typeface="Roboto"/>
                <a:sym typeface="Roboto"/>
              </a:rPr>
              <a:t>MATLAB, Simulink,</a:t>
            </a:r>
          </a:p>
          <a:p>
            <a:pPr algn="l">
              <a:lnSpc>
                <a:spcPts val="2387"/>
              </a:lnSpc>
            </a:pPr>
            <a:r>
              <a:rPr lang="en-US" sz="1705" spc="-34">
                <a:solidFill>
                  <a:srgbClr val="071947"/>
                </a:solidFill>
                <a:latin typeface="Roboto"/>
                <a:ea typeface="Roboto"/>
                <a:cs typeface="Roboto"/>
                <a:sym typeface="Roboto"/>
              </a:rPr>
              <a:t>MATLAB scripts</a:t>
            </a:r>
          </a:p>
        </p:txBody>
      </p:sp>
      <p:sp>
        <p:nvSpPr>
          <p:cNvPr id="44" name="Freeform 44"/>
          <p:cNvSpPr/>
          <p:nvPr/>
        </p:nvSpPr>
        <p:spPr>
          <a:xfrm>
            <a:off x="12622220" y="3421712"/>
            <a:ext cx="1531292" cy="874559"/>
          </a:xfrm>
          <a:custGeom>
            <a:avLst/>
            <a:gdLst/>
            <a:ahLst/>
            <a:cxnLst/>
            <a:rect l="l" t="t" r="r" b="b"/>
            <a:pathLst>
              <a:path w="1531292" h="874559">
                <a:moveTo>
                  <a:pt x="0" y="0"/>
                </a:moveTo>
                <a:lnTo>
                  <a:pt x="1531292" y="0"/>
                </a:lnTo>
                <a:lnTo>
                  <a:pt x="1531292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>
              <a:fillRect/>
            </a:stretch>
          </a:blipFill>
        </p:spPr>
      </p:sp>
      <p:sp>
        <p:nvSpPr>
          <p:cNvPr id="45" name="TextBox 45"/>
          <p:cNvSpPr txBox="1"/>
          <p:nvPr/>
        </p:nvSpPr>
        <p:spPr>
          <a:xfrm>
            <a:off x="12876440" y="3647456"/>
            <a:ext cx="909888" cy="2498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740" b="1" spc="-34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Backend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4388829" y="3458716"/>
            <a:ext cx="2368667" cy="5660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87"/>
              </a:lnSpc>
            </a:pPr>
            <a:r>
              <a:rPr lang="en-US" sz="1705" spc="-34">
                <a:solidFill>
                  <a:srgbClr val="071947"/>
                </a:solidFill>
                <a:latin typeface="Roboto"/>
                <a:ea typeface="Roboto"/>
                <a:cs typeface="Roboto"/>
                <a:sym typeface="Roboto"/>
              </a:rPr>
              <a:t>Python, FastAPI,</a:t>
            </a:r>
          </a:p>
          <a:p>
            <a:pPr algn="l">
              <a:lnSpc>
                <a:spcPts val="2387"/>
              </a:lnSpc>
            </a:pPr>
            <a:r>
              <a:rPr lang="en-US" sz="1705" spc="-34">
                <a:solidFill>
                  <a:srgbClr val="071947"/>
                </a:solidFill>
                <a:latin typeface="Roboto"/>
                <a:ea typeface="Roboto"/>
                <a:cs typeface="Roboto"/>
                <a:sym typeface="Roboto"/>
              </a:rPr>
              <a:t>Pydantic, NumPy, Scipy</a:t>
            </a:r>
          </a:p>
        </p:txBody>
      </p:sp>
      <p:sp>
        <p:nvSpPr>
          <p:cNvPr id="47" name="Freeform 47"/>
          <p:cNvSpPr/>
          <p:nvPr/>
        </p:nvSpPr>
        <p:spPr>
          <a:xfrm>
            <a:off x="12622220" y="4285339"/>
            <a:ext cx="1531292" cy="863627"/>
          </a:xfrm>
          <a:custGeom>
            <a:avLst/>
            <a:gdLst/>
            <a:ahLst/>
            <a:cxnLst/>
            <a:rect l="l" t="t" r="r" b="b"/>
            <a:pathLst>
              <a:path w="1531292" h="863627">
                <a:moveTo>
                  <a:pt x="0" y="0"/>
                </a:moveTo>
                <a:lnTo>
                  <a:pt x="1531292" y="0"/>
                </a:lnTo>
                <a:lnTo>
                  <a:pt x="1531292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>
              <a:fillRect/>
            </a:stretch>
          </a:blipFill>
        </p:spPr>
      </p:sp>
      <p:sp>
        <p:nvSpPr>
          <p:cNvPr id="48" name="TextBox 48"/>
          <p:cNvSpPr txBox="1"/>
          <p:nvPr/>
        </p:nvSpPr>
        <p:spPr>
          <a:xfrm>
            <a:off x="14393192" y="4307493"/>
            <a:ext cx="1932367" cy="609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09"/>
              </a:lnSpc>
            </a:pPr>
            <a:r>
              <a:rPr lang="en-US" sz="1792" spc="-35">
                <a:solidFill>
                  <a:srgbClr val="071947"/>
                </a:solidFill>
                <a:latin typeface="Roboto"/>
                <a:ea typeface="Roboto"/>
                <a:cs typeface="Roboto"/>
                <a:sym typeface="Roboto"/>
              </a:rPr>
              <a:t>React, TypeScript,</a:t>
            </a:r>
          </a:p>
          <a:p>
            <a:pPr algn="l">
              <a:lnSpc>
                <a:spcPts val="2509"/>
              </a:lnSpc>
            </a:pPr>
            <a:r>
              <a:rPr lang="en-US" sz="1792" spc="-35">
                <a:solidFill>
                  <a:srgbClr val="071947"/>
                </a:solidFill>
                <a:latin typeface="Roboto"/>
                <a:ea typeface="Roboto"/>
                <a:cs typeface="Roboto"/>
                <a:sym typeface="Roboto"/>
              </a:rPr>
              <a:t>Vite, Recharts</a:t>
            </a:r>
          </a:p>
        </p:txBody>
      </p:sp>
      <p:sp>
        <p:nvSpPr>
          <p:cNvPr id="49" name="Freeform 49"/>
          <p:cNvSpPr/>
          <p:nvPr/>
        </p:nvSpPr>
        <p:spPr>
          <a:xfrm>
            <a:off x="12622220" y="5138034"/>
            <a:ext cx="1531292" cy="863627"/>
          </a:xfrm>
          <a:custGeom>
            <a:avLst/>
            <a:gdLst/>
            <a:ahLst/>
            <a:cxnLst/>
            <a:rect l="l" t="t" r="r" b="b"/>
            <a:pathLst>
              <a:path w="1531292" h="863627">
                <a:moveTo>
                  <a:pt x="0" y="0"/>
                </a:moveTo>
                <a:lnTo>
                  <a:pt x="1531292" y="0"/>
                </a:lnTo>
                <a:lnTo>
                  <a:pt x="1531292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>
              <a:fillRect/>
            </a:stretch>
          </a:blipFill>
        </p:spPr>
      </p:sp>
      <p:sp>
        <p:nvSpPr>
          <p:cNvPr id="50" name="TextBox 50"/>
          <p:cNvSpPr txBox="1"/>
          <p:nvPr/>
        </p:nvSpPr>
        <p:spPr>
          <a:xfrm>
            <a:off x="14382949" y="5150900"/>
            <a:ext cx="2956632" cy="609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09"/>
              </a:lnSpc>
            </a:pPr>
            <a:r>
              <a:rPr lang="en-US" sz="1792" spc="-35">
                <a:solidFill>
                  <a:srgbClr val="071947"/>
                </a:solidFill>
                <a:latin typeface="Roboto"/>
                <a:ea typeface="Roboto"/>
                <a:cs typeface="Roboto"/>
                <a:sym typeface="Roboto"/>
              </a:rPr>
              <a:t>Pytest, HTTPX,</a:t>
            </a:r>
          </a:p>
          <a:p>
            <a:pPr algn="l">
              <a:lnSpc>
                <a:spcPts val="2509"/>
              </a:lnSpc>
            </a:pPr>
            <a:r>
              <a:rPr lang="en-US" sz="1792" spc="-35">
                <a:solidFill>
                  <a:srgbClr val="071947"/>
                </a:solidFill>
                <a:latin typeface="Roboto"/>
                <a:ea typeface="Roboto"/>
                <a:cs typeface="Roboto"/>
                <a:sym typeface="Roboto"/>
              </a:rPr>
              <a:t>Vitest, React Testing Library</a:t>
            </a:r>
          </a:p>
        </p:txBody>
      </p:sp>
      <p:sp>
        <p:nvSpPr>
          <p:cNvPr id="51" name="Freeform 51"/>
          <p:cNvSpPr/>
          <p:nvPr/>
        </p:nvSpPr>
        <p:spPr>
          <a:xfrm>
            <a:off x="12184708" y="6209369"/>
            <a:ext cx="5676718" cy="3224936"/>
          </a:xfrm>
          <a:custGeom>
            <a:avLst/>
            <a:gdLst/>
            <a:ahLst/>
            <a:cxnLst/>
            <a:rect l="l" t="t" r="r" b="b"/>
            <a:pathLst>
              <a:path w="5676718" h="3224936">
                <a:moveTo>
                  <a:pt x="0" y="0"/>
                </a:moveTo>
                <a:lnTo>
                  <a:pt x="5676718" y="0"/>
                </a:lnTo>
                <a:lnTo>
                  <a:pt x="5676718" y="3224936"/>
                </a:lnTo>
                <a:lnTo>
                  <a:pt x="0" y="3224936"/>
                </a:lnTo>
                <a:lnTo>
                  <a:pt x="0" y="0"/>
                </a:lnTo>
                <a:close/>
              </a:path>
            </a:pathLst>
          </a:custGeom>
          <a:blipFill>
            <a:blip r:embed="rId34"/>
            <a:stretch>
              <a:fillRect/>
            </a:stretch>
          </a:blipFill>
        </p:spPr>
      </p:sp>
      <p:sp>
        <p:nvSpPr>
          <p:cNvPr id="52" name="TextBox 52"/>
          <p:cNvSpPr txBox="1"/>
          <p:nvPr/>
        </p:nvSpPr>
        <p:spPr>
          <a:xfrm>
            <a:off x="12646294" y="7397606"/>
            <a:ext cx="2493259" cy="2498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740" spc="-34">
                <a:solidFill>
                  <a:srgbClr val="1F275D"/>
                </a:solidFill>
                <a:latin typeface="Roboto"/>
                <a:ea typeface="Roboto"/>
                <a:cs typeface="Roboto"/>
                <a:sym typeface="Roboto"/>
              </a:rPr>
              <a:t>No third-party telemetry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2642783" y="7774127"/>
            <a:ext cx="2844343" cy="2498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740" spc="-34">
                <a:solidFill>
                  <a:srgbClr val="1F275D"/>
                </a:solidFill>
                <a:latin typeface="Roboto"/>
                <a:ea typeface="Roboto"/>
                <a:cs typeface="Roboto"/>
                <a:sym typeface="Roboto"/>
              </a:rPr>
              <a:t>No external APIs or uploads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2632726" y="8677777"/>
            <a:ext cx="3850028" cy="2498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740" b="1" spc="-34">
                <a:solidFill>
                  <a:srgbClr val="D47111"/>
                </a:solidFill>
                <a:latin typeface="Roboto Bold"/>
                <a:ea typeface="Roboto Bold"/>
                <a:cs typeface="Roboto Bold"/>
                <a:sym typeface="Roboto Bold"/>
              </a:rPr>
              <a:t>Prototype does not diagnose or treat</a:t>
            </a:r>
          </a:p>
        </p:txBody>
      </p:sp>
      <p:sp>
        <p:nvSpPr>
          <p:cNvPr id="55" name="Freeform 55"/>
          <p:cNvSpPr/>
          <p:nvPr/>
        </p:nvSpPr>
        <p:spPr>
          <a:xfrm>
            <a:off x="10226842" y="5564382"/>
            <a:ext cx="667206" cy="1082267"/>
          </a:xfrm>
          <a:custGeom>
            <a:avLst/>
            <a:gdLst/>
            <a:ahLst/>
            <a:cxnLst/>
            <a:rect l="l" t="t" r="r" b="b"/>
            <a:pathLst>
              <a:path w="667206" h="1082267">
                <a:moveTo>
                  <a:pt x="0" y="0"/>
                </a:moveTo>
                <a:lnTo>
                  <a:pt x="667206" y="0"/>
                </a:lnTo>
                <a:lnTo>
                  <a:pt x="667206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35"/>
            <a:stretch>
              <a:fillRect/>
            </a:stretch>
          </a:blipFill>
        </p:spPr>
      </p:sp>
      <p:sp>
        <p:nvSpPr>
          <p:cNvPr id="56" name="TextBox 56"/>
          <p:cNvSpPr txBox="1"/>
          <p:nvPr/>
        </p:nvSpPr>
        <p:spPr>
          <a:xfrm>
            <a:off x="7646247" y="3848783"/>
            <a:ext cx="943286" cy="5270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77"/>
              </a:lnSpc>
            </a:pPr>
            <a:r>
              <a:rPr lang="en-US" sz="3480" b="1" spc="-69">
                <a:solidFill>
                  <a:srgbClr val="088EAA"/>
                </a:solidFill>
                <a:latin typeface="Roboto Bold"/>
                <a:ea typeface="Roboto Bold"/>
                <a:cs typeface="Roboto Bold"/>
                <a:sym typeface="Roboto Bold"/>
              </a:rPr>
              <a:t>0.82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7835487" y="4475803"/>
            <a:ext cx="564805" cy="2498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88"/>
              </a:lnSpc>
            </a:pPr>
            <a:r>
              <a:rPr lang="en-US" sz="1740" b="1" spc="-34">
                <a:solidFill>
                  <a:srgbClr val="071947"/>
                </a:solidFill>
                <a:latin typeface="Roboto Bold"/>
                <a:ea typeface="Roboto Bold"/>
                <a:cs typeface="Roboto Bold"/>
                <a:sym typeface="Roboto Bold"/>
              </a:rPr>
              <a:t>Good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9014510" y="4044574"/>
            <a:ext cx="1340384" cy="187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283" spc="-25">
                <a:solidFill>
                  <a:srgbClr val="071947"/>
                </a:solidFill>
                <a:latin typeface="Roboto"/>
                <a:ea typeface="Roboto"/>
                <a:cs typeface="Roboto"/>
                <a:sym typeface="Roboto"/>
              </a:rPr>
              <a:t>Pulse consistency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7482181" y="5249441"/>
            <a:ext cx="1875653" cy="2415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2"/>
              </a:lnSpc>
            </a:pPr>
            <a:r>
              <a:rPr lang="en-US" sz="1634" b="1" spc="-32">
                <a:solidFill>
                  <a:srgbClr val="071947"/>
                </a:solidFill>
                <a:latin typeface="Roboto Bold"/>
                <a:ea typeface="Roboto Bold"/>
                <a:cs typeface="Roboto Bold"/>
                <a:sym typeface="Roboto Bold"/>
              </a:rPr>
              <a:t>Data completeness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367826" y="1354219"/>
            <a:ext cx="8758772" cy="3581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5"/>
              </a:lnSpc>
            </a:pPr>
            <a:r>
              <a:rPr lang="en-US" sz="2337" spc="-46">
                <a:solidFill>
                  <a:srgbClr val="071947"/>
                </a:solidFill>
                <a:latin typeface="Roboto"/>
                <a:ea typeface="Roboto"/>
                <a:cs typeface="Roboto"/>
                <a:sym typeface="Roboto"/>
              </a:rPr>
              <a:t>Unified view of signals, quality, artifacts, and data completeness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7408803" y="2583673"/>
            <a:ext cx="1176771" cy="2415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2"/>
              </a:lnSpc>
            </a:pPr>
            <a:r>
              <a:rPr lang="en-US" sz="1634" b="1" spc="-32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Upload CSV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12794175" y="2819110"/>
            <a:ext cx="1099707" cy="2498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740" b="1" spc="-34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Simulation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1458953" y="3381897"/>
            <a:ext cx="1444560" cy="2415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2"/>
              </a:lnSpc>
            </a:pPr>
            <a:r>
              <a:rPr lang="en-US" sz="1634" b="1" spc="-32">
                <a:solidFill>
                  <a:srgbClr val="071947"/>
                </a:solidFill>
                <a:latin typeface="Roboto Bold"/>
                <a:ea typeface="Roboto Bold"/>
                <a:cs typeface="Roboto Bold"/>
                <a:sym typeface="Roboto Bold"/>
              </a:rPr>
              <a:t>PPG waveform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7480220" y="3381897"/>
            <a:ext cx="2071743" cy="2415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2"/>
              </a:lnSpc>
            </a:pPr>
            <a:r>
              <a:rPr lang="en-US" sz="1634" b="1" spc="-32">
                <a:solidFill>
                  <a:srgbClr val="071947"/>
                </a:solidFill>
                <a:latin typeface="Roboto Bold"/>
                <a:ea typeface="Roboto Bold"/>
                <a:cs typeface="Roboto Bold"/>
                <a:sym typeface="Roboto Bold"/>
              </a:rPr>
              <a:t>Signal-quality source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9016892" y="3743357"/>
            <a:ext cx="1102217" cy="187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283" spc="-25">
                <a:solidFill>
                  <a:srgbClr val="071947"/>
                </a:solidFill>
                <a:latin typeface="Roboto"/>
                <a:ea typeface="Roboto"/>
                <a:cs typeface="Roboto"/>
                <a:sym typeface="Roboto"/>
              </a:rPr>
              <a:t>Signal integrity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10700059" y="3773479"/>
            <a:ext cx="329615" cy="187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540"/>
              </a:lnSpc>
            </a:pPr>
            <a:r>
              <a:rPr lang="en-US" sz="1283" spc="-25">
                <a:solidFill>
                  <a:srgbClr val="071947"/>
                </a:solidFill>
                <a:latin typeface="Roboto"/>
                <a:ea typeface="Roboto"/>
                <a:cs typeface="Roboto"/>
                <a:sym typeface="Roboto"/>
              </a:rPr>
              <a:t>0.85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10731853" y="4069159"/>
            <a:ext cx="297500" cy="178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478"/>
              </a:lnSpc>
            </a:pPr>
            <a:r>
              <a:rPr lang="en-US" sz="1231" spc="-24">
                <a:solidFill>
                  <a:srgbClr val="071947"/>
                </a:solidFill>
                <a:latin typeface="Roboto"/>
                <a:ea typeface="Roboto"/>
                <a:cs typeface="Roboto"/>
                <a:sym typeface="Roboto"/>
              </a:rPr>
              <a:t>0.81</a:t>
            </a:r>
          </a:p>
        </p:txBody>
      </p:sp>
      <p:sp>
        <p:nvSpPr>
          <p:cNvPr id="68" name="TextBox 68"/>
          <p:cNvSpPr txBox="1"/>
          <p:nvPr/>
        </p:nvSpPr>
        <p:spPr>
          <a:xfrm rot="-5400000">
            <a:off x="1086040" y="4094520"/>
            <a:ext cx="754838" cy="187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283" spc="-25">
                <a:solidFill>
                  <a:srgbClr val="071947"/>
                </a:solidFill>
                <a:latin typeface="Roboto"/>
                <a:ea typeface="Roboto"/>
                <a:cs typeface="Roboto"/>
                <a:sym typeface="Roboto"/>
              </a:rPr>
              <a:t>Amplitude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9024642" y="4345791"/>
            <a:ext cx="327253" cy="187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540"/>
              </a:lnSpc>
            </a:pPr>
            <a:r>
              <a:rPr lang="en-US" sz="1283" spc="-25">
                <a:solidFill>
                  <a:srgbClr val="071947"/>
                </a:solidFill>
                <a:latin typeface="Roboto"/>
                <a:ea typeface="Roboto"/>
                <a:cs typeface="Roboto"/>
                <a:sym typeface="Roboto"/>
              </a:rPr>
              <a:t>SNR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10706192" y="4360852"/>
            <a:ext cx="323420" cy="187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540"/>
              </a:lnSpc>
            </a:pPr>
            <a:r>
              <a:rPr lang="en-US" sz="1283" spc="-25">
                <a:solidFill>
                  <a:srgbClr val="071947"/>
                </a:solidFill>
                <a:latin typeface="Roboto"/>
                <a:ea typeface="Roboto"/>
                <a:cs typeface="Roboto"/>
                <a:sym typeface="Roboto"/>
              </a:rPr>
              <a:t>0.79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12876158" y="4505924"/>
            <a:ext cx="938115" cy="2498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740" b="1" spc="-34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Frontend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9015509" y="4647008"/>
            <a:ext cx="1240534" cy="187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283" spc="-25">
                <a:solidFill>
                  <a:srgbClr val="071947"/>
                </a:solidFill>
                <a:latin typeface="Roboto"/>
                <a:ea typeface="Roboto"/>
                <a:cs typeface="Roboto"/>
                <a:sym typeface="Roboto"/>
              </a:rPr>
              <a:t>Baseline stability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10691748" y="4677129"/>
            <a:ext cx="338010" cy="187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540"/>
              </a:lnSpc>
            </a:pPr>
            <a:r>
              <a:rPr lang="en-US" sz="1283" spc="-25">
                <a:solidFill>
                  <a:srgbClr val="071947"/>
                </a:solidFill>
                <a:latin typeface="Roboto"/>
                <a:ea typeface="Roboto"/>
                <a:cs typeface="Roboto"/>
                <a:sym typeface="Roboto"/>
              </a:rPr>
              <a:t>0.84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1437651" y="5249441"/>
            <a:ext cx="895843" cy="22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7"/>
              </a:lnSpc>
            </a:pPr>
            <a:r>
              <a:rPr lang="en-US" sz="1513" b="1" spc="-30">
                <a:solidFill>
                  <a:srgbClr val="1F275D"/>
                </a:solidFill>
                <a:latin typeface="Roboto Bold"/>
                <a:ea typeface="Roboto Bold"/>
                <a:cs typeface="Roboto Bold"/>
                <a:sym typeface="Roboto Bold"/>
              </a:rPr>
              <a:t>Pulse rate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4442348" y="5249441"/>
            <a:ext cx="463630" cy="22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7"/>
              </a:lnSpc>
            </a:pPr>
            <a:r>
              <a:rPr lang="en-US" sz="1513" b="1" spc="-30">
                <a:solidFill>
                  <a:srgbClr val="1F275D"/>
                </a:solidFill>
                <a:latin typeface="Roboto Bold"/>
                <a:ea typeface="Roboto Bold"/>
                <a:cs typeface="Roboto Bold"/>
                <a:sym typeface="Roboto Bold"/>
              </a:rPr>
              <a:t>SpO₂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12969442" y="5349331"/>
            <a:ext cx="768739" cy="2498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88"/>
              </a:lnSpc>
            </a:pPr>
            <a:r>
              <a:rPr lang="en-US" sz="1740" b="1" spc="-34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Testing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5891725" y="5776571"/>
            <a:ext cx="186860" cy="22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7"/>
              </a:lnSpc>
            </a:pPr>
            <a:r>
              <a:rPr lang="en-US" sz="1513" spc="-30">
                <a:solidFill>
                  <a:srgbClr val="1F275D"/>
                </a:solidFill>
                <a:latin typeface="Roboto"/>
                <a:ea typeface="Roboto"/>
                <a:cs typeface="Roboto"/>
                <a:sym typeface="Roboto"/>
              </a:rPr>
              <a:t>%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7475956" y="5836814"/>
            <a:ext cx="2498167" cy="22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7"/>
              </a:lnSpc>
            </a:pPr>
            <a:r>
              <a:rPr lang="en-US" sz="1513" b="1" spc="-30">
                <a:solidFill>
                  <a:srgbClr val="D47111"/>
                </a:solidFill>
                <a:latin typeface="Roboto Bold"/>
                <a:ea typeface="Roboto Bold"/>
                <a:cs typeface="Roboto Bold"/>
                <a:sym typeface="Roboto Bold"/>
              </a:rPr>
              <a:t>Missing segments detected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7482370" y="6122970"/>
            <a:ext cx="1856736" cy="22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7"/>
              </a:lnSpc>
            </a:pPr>
            <a:r>
              <a:rPr lang="en-US" sz="1513" b="1" spc="-30">
                <a:solidFill>
                  <a:srgbClr val="1F275D"/>
                </a:solidFill>
                <a:latin typeface="Roboto Bold"/>
                <a:ea typeface="Roboto Bold"/>
                <a:cs typeface="Roboto Bold"/>
                <a:sym typeface="Roboto Bold"/>
              </a:rPr>
              <a:t>12% of total duration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12646966" y="6509016"/>
            <a:ext cx="2426036" cy="2498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740" b="1" spc="-34">
                <a:solidFill>
                  <a:srgbClr val="0289A8"/>
                </a:solidFill>
                <a:latin typeface="Roboto Bold"/>
                <a:ea typeface="Roboto Bold"/>
                <a:cs typeface="Roboto Bold"/>
                <a:sym typeface="Roboto Bold"/>
              </a:rPr>
              <a:t>PRIVACY AND SAFETY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2350087" y="6619978"/>
            <a:ext cx="735075" cy="1701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1165" spc="-23">
                <a:solidFill>
                  <a:srgbClr val="1F275D"/>
                </a:solidFill>
                <a:latin typeface="Roboto"/>
                <a:ea typeface="Roboto"/>
                <a:cs typeface="Roboto"/>
                <a:sym typeface="Roboto"/>
              </a:rPr>
              <a:t>Time (min)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12642939" y="7021085"/>
            <a:ext cx="2828783" cy="2498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740" spc="-34">
                <a:solidFill>
                  <a:srgbClr val="1F275D"/>
                </a:solidFill>
                <a:latin typeface="Roboto"/>
                <a:ea typeface="Roboto"/>
                <a:cs typeface="Roboto"/>
                <a:sym typeface="Roboto"/>
              </a:rPr>
              <a:t>No patient data persistence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1432776" y="7162168"/>
            <a:ext cx="1383372" cy="22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7"/>
              </a:lnSpc>
            </a:pPr>
            <a:r>
              <a:rPr lang="en-US" sz="1513" b="1" spc="-30">
                <a:solidFill>
                  <a:srgbClr val="1F275D"/>
                </a:solidFill>
                <a:latin typeface="Roboto Bold"/>
                <a:ea typeface="Roboto Bold"/>
                <a:cs typeface="Roboto Bold"/>
                <a:sym typeface="Roboto Bold"/>
              </a:rPr>
              <a:t>Artfact timeline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1442433" y="7990514"/>
            <a:ext cx="417608" cy="1701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1165" spc="-23">
                <a:solidFill>
                  <a:srgbClr val="1F275D"/>
                </a:solidFill>
                <a:latin typeface="Roboto"/>
                <a:ea typeface="Roboto"/>
                <a:cs typeface="Roboto"/>
                <a:sym typeface="Roboto"/>
              </a:rPr>
              <a:t>00:00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3184080" y="7990514"/>
            <a:ext cx="381806" cy="1701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1165" spc="-23">
                <a:solidFill>
                  <a:srgbClr val="1F275D"/>
                </a:solidFill>
                <a:latin typeface="Roboto"/>
                <a:ea typeface="Roboto"/>
                <a:cs typeface="Roboto"/>
                <a:sym typeface="Roboto"/>
              </a:rPr>
              <a:t>01:00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8889779" y="7990514"/>
            <a:ext cx="419016" cy="1701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1165" spc="-23">
                <a:solidFill>
                  <a:srgbClr val="1F275D"/>
                </a:solidFill>
                <a:latin typeface="Roboto"/>
                <a:ea typeface="Roboto"/>
                <a:cs typeface="Roboto"/>
                <a:sym typeface="Roboto"/>
              </a:rPr>
              <a:t>04:00</a:t>
            </a:r>
          </a:p>
        </p:txBody>
      </p:sp>
      <p:sp>
        <p:nvSpPr>
          <p:cNvPr id="87" name="TextBox 87"/>
          <p:cNvSpPr txBox="1"/>
          <p:nvPr/>
        </p:nvSpPr>
        <p:spPr>
          <a:xfrm>
            <a:off x="10657935" y="7990514"/>
            <a:ext cx="411159" cy="1701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1165" spc="-23">
                <a:solidFill>
                  <a:srgbClr val="1F275D"/>
                </a:solidFill>
                <a:latin typeface="Roboto"/>
                <a:ea typeface="Roboto"/>
                <a:cs typeface="Roboto"/>
                <a:sym typeface="Roboto"/>
              </a:rPr>
              <a:t>05:00</a:t>
            </a:r>
          </a:p>
        </p:txBody>
      </p:sp>
      <p:sp>
        <p:nvSpPr>
          <p:cNvPr id="88" name="TextBox 88"/>
          <p:cNvSpPr txBox="1"/>
          <p:nvPr/>
        </p:nvSpPr>
        <p:spPr>
          <a:xfrm>
            <a:off x="12640082" y="8150648"/>
            <a:ext cx="3114412" cy="2498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740" spc="-34">
                <a:solidFill>
                  <a:srgbClr val="1F275D"/>
                </a:solidFill>
                <a:latin typeface="Roboto"/>
                <a:ea typeface="Roboto"/>
                <a:cs typeface="Roboto"/>
                <a:sym typeface="Roboto"/>
              </a:rPr>
              <a:t>Manual report downloads only</a:t>
            </a:r>
          </a:p>
        </p:txBody>
      </p:sp>
      <p:sp>
        <p:nvSpPr>
          <p:cNvPr id="89" name="TextBox 89"/>
          <p:cNvSpPr txBox="1"/>
          <p:nvPr/>
        </p:nvSpPr>
        <p:spPr>
          <a:xfrm>
            <a:off x="3712939" y="8321853"/>
            <a:ext cx="1074111" cy="1701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1165" spc="-23">
                <a:solidFill>
                  <a:srgbClr val="1F275D"/>
                </a:solidFill>
                <a:latin typeface="Roboto"/>
                <a:ea typeface="Roboto"/>
                <a:cs typeface="Roboto"/>
                <a:sym typeface="Roboto"/>
              </a:rPr>
              <a:t>Motion artifacts</a:t>
            </a:r>
          </a:p>
        </p:txBody>
      </p:sp>
      <p:sp>
        <p:nvSpPr>
          <p:cNvPr id="90" name="TextBox 90"/>
          <p:cNvSpPr txBox="1"/>
          <p:nvPr/>
        </p:nvSpPr>
        <p:spPr>
          <a:xfrm>
            <a:off x="6017569" y="8321853"/>
            <a:ext cx="997024" cy="1701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1165" spc="-23">
                <a:solidFill>
                  <a:srgbClr val="1F275D"/>
                </a:solidFill>
                <a:latin typeface="Roboto"/>
                <a:ea typeface="Roboto"/>
                <a:cs typeface="Roboto"/>
                <a:sym typeface="Roboto"/>
              </a:rPr>
              <a:t>Signal dropout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8188736" y="8321853"/>
            <a:ext cx="871683" cy="1701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1165" spc="-23">
                <a:solidFill>
                  <a:srgbClr val="1F275D"/>
                </a:solidFill>
                <a:latin typeface="Roboto"/>
                <a:ea typeface="Roboto"/>
                <a:cs typeface="Roboto"/>
                <a:sym typeface="Roboto"/>
              </a:rPr>
              <a:t>Missing data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402511" y="442272"/>
            <a:ext cx="7969210" cy="1521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89"/>
              </a:lnSpc>
            </a:pPr>
            <a:r>
              <a:rPr lang="en-US" sz="5446" b="1" spc="-109">
                <a:solidFill>
                  <a:srgbClr val="071743"/>
                </a:solidFill>
                <a:latin typeface="Roboto Bold"/>
                <a:ea typeface="Roboto Bold"/>
                <a:cs typeface="Roboto Bold"/>
                <a:sym typeface="Roboto Bold"/>
              </a:rPr>
              <a:t>Toward More Reliable</a:t>
            </a:r>
          </a:p>
          <a:p>
            <a:pPr algn="l">
              <a:lnSpc>
                <a:spcPts val="5989"/>
              </a:lnSpc>
            </a:pPr>
            <a:r>
              <a:rPr lang="en-US" sz="5446" b="1" spc="-109">
                <a:solidFill>
                  <a:srgbClr val="071743"/>
                </a:solidFill>
                <a:latin typeface="Roboto Bold"/>
                <a:ea typeface="Roboto Bold"/>
                <a:cs typeface="Roboto Bold"/>
                <a:sym typeface="Roboto Bold"/>
              </a:rPr>
              <a:t>Pediatric Measurements</a:t>
            </a:r>
          </a:p>
        </p:txBody>
      </p:sp>
      <p:sp>
        <p:nvSpPr>
          <p:cNvPr id="4" name="Freeform 4"/>
          <p:cNvSpPr/>
          <p:nvPr/>
        </p:nvSpPr>
        <p:spPr>
          <a:xfrm>
            <a:off x="426574" y="2142670"/>
            <a:ext cx="9592450" cy="2579949"/>
          </a:xfrm>
          <a:custGeom>
            <a:avLst/>
            <a:gdLst/>
            <a:ahLst/>
            <a:cxnLst/>
            <a:rect l="l" t="t" r="r" b="b"/>
            <a:pathLst>
              <a:path w="9592450" h="2579949">
                <a:moveTo>
                  <a:pt x="0" y="0"/>
                </a:moveTo>
                <a:lnTo>
                  <a:pt x="9592450" y="0"/>
                </a:lnTo>
                <a:lnTo>
                  <a:pt x="9592450" y="2579948"/>
                </a:lnTo>
                <a:lnTo>
                  <a:pt x="0" y="25799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2192673" y="2267545"/>
            <a:ext cx="5760815" cy="2025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1"/>
              </a:lnSpc>
            </a:pPr>
            <a:r>
              <a:rPr lang="en-US" sz="1862" spc="-37">
                <a:solidFill>
                  <a:srgbClr val="071743"/>
                </a:solidFill>
                <a:latin typeface="Roboto"/>
                <a:ea typeface="Roboto"/>
                <a:cs typeface="Roboto"/>
                <a:sym typeface="Roboto"/>
              </a:rPr>
              <a:t>Identify movement-related disturbances</a:t>
            </a:r>
          </a:p>
          <a:p>
            <a:pPr algn="l">
              <a:lnSpc>
                <a:spcPts val="3351"/>
              </a:lnSpc>
            </a:pPr>
            <a:r>
              <a:rPr lang="en-US" sz="1862" spc="-37">
                <a:solidFill>
                  <a:srgbClr val="071743"/>
                </a:solidFill>
                <a:latin typeface="Roboto"/>
                <a:ea typeface="Roboto"/>
                <a:cs typeface="Roboto"/>
                <a:sym typeface="Roboto"/>
              </a:rPr>
              <a:t>Clarify measurement-quality limitations</a:t>
            </a:r>
          </a:p>
          <a:p>
            <a:pPr algn="l">
              <a:lnSpc>
                <a:spcPts val="3351"/>
              </a:lnSpc>
            </a:pPr>
            <a:r>
              <a:rPr lang="en-US" sz="1862" spc="-37">
                <a:solidFill>
                  <a:srgbClr val="071743"/>
                </a:solidFill>
                <a:latin typeface="Roboto"/>
                <a:ea typeface="Roboto"/>
                <a:cs typeface="Roboto"/>
                <a:sym typeface="Roboto"/>
              </a:rPr>
              <a:t>Flag readings needing repeat or review</a:t>
            </a:r>
          </a:p>
          <a:p>
            <a:pPr algn="l">
              <a:lnSpc>
                <a:spcPts val="3351"/>
              </a:lnSpc>
            </a:pPr>
            <a:r>
              <a:rPr lang="en-US" sz="1862" spc="-37">
                <a:solidFill>
                  <a:srgbClr val="071743"/>
                </a:solidFill>
                <a:latin typeface="Roboto"/>
                <a:ea typeface="Roboto"/>
                <a:cs typeface="Roboto"/>
                <a:sym typeface="Roboto"/>
              </a:rPr>
              <a:t>Provide Reproduable software testing environment</a:t>
            </a:r>
          </a:p>
          <a:p>
            <a:pPr algn="l">
              <a:lnSpc>
                <a:spcPts val="3351"/>
              </a:lnSpc>
            </a:pPr>
            <a:r>
              <a:rPr lang="en-US" sz="1862" spc="-37">
                <a:solidFill>
                  <a:srgbClr val="071743"/>
                </a:solidFill>
                <a:latin typeface="Roboto"/>
                <a:ea typeface="Roboto"/>
                <a:cs typeface="Roboto"/>
                <a:sym typeface="Roboto"/>
              </a:rPr>
              <a:t>Support research in adaptive pediatric measurement</a:t>
            </a:r>
          </a:p>
        </p:txBody>
      </p:sp>
      <p:sp>
        <p:nvSpPr>
          <p:cNvPr id="6" name="Freeform 6"/>
          <p:cNvSpPr/>
          <p:nvPr/>
        </p:nvSpPr>
        <p:spPr>
          <a:xfrm>
            <a:off x="426574" y="4711687"/>
            <a:ext cx="9592450" cy="1934962"/>
          </a:xfrm>
          <a:custGeom>
            <a:avLst/>
            <a:gdLst/>
            <a:ahLst/>
            <a:cxnLst/>
            <a:rect l="l" t="t" r="r" b="b"/>
            <a:pathLst>
              <a:path w="9592450" h="1934962">
                <a:moveTo>
                  <a:pt x="0" y="0"/>
                </a:moveTo>
                <a:lnTo>
                  <a:pt x="9592450" y="0"/>
                </a:lnTo>
                <a:lnTo>
                  <a:pt x="9592450" y="1934961"/>
                </a:lnTo>
                <a:lnTo>
                  <a:pt x="0" y="193496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587400" y="5261948"/>
            <a:ext cx="1207284" cy="6321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3"/>
              </a:lnSpc>
            </a:pPr>
            <a:r>
              <a:rPr lang="en-US" sz="1775" b="1" spc="-35">
                <a:solidFill>
                  <a:srgbClr val="F3F6FA"/>
                </a:solidFill>
                <a:latin typeface="Roboto Bold"/>
                <a:ea typeface="Roboto Bold"/>
                <a:cs typeface="Roboto Bold"/>
                <a:sym typeface="Roboto Bold"/>
              </a:rPr>
              <a:t>PATENT</a:t>
            </a:r>
          </a:p>
          <a:p>
            <a:pPr algn="ctr">
              <a:lnSpc>
                <a:spcPts val="2663"/>
              </a:lnSpc>
            </a:pPr>
            <a:r>
              <a:rPr lang="en-US" sz="1775" b="1" spc="-35">
                <a:solidFill>
                  <a:srgbClr val="F3F6FA"/>
                </a:solidFill>
                <a:latin typeface="Roboto Bold"/>
                <a:ea typeface="Roboto Bold"/>
                <a:cs typeface="Roboto Bold"/>
                <a:sym typeface="Roboto Bold"/>
              </a:rPr>
              <a:t>DIRECTION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212600" y="4933658"/>
            <a:ext cx="3768149" cy="11558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6"/>
              </a:lnSpc>
            </a:pPr>
            <a:r>
              <a:rPr lang="en-US" sz="1792" b="1" spc="-35">
                <a:solidFill>
                  <a:srgbClr val="071743"/>
                </a:solidFill>
                <a:latin typeface="Roboto Bold"/>
                <a:ea typeface="Roboto Bold"/>
                <a:cs typeface="Roboto Bold"/>
                <a:sym typeface="Roboto Bold"/>
              </a:rPr>
              <a:t>Size-adaptive sensor positioning</a:t>
            </a:r>
          </a:p>
          <a:p>
            <a:pPr algn="l">
              <a:lnSpc>
                <a:spcPts val="3226"/>
              </a:lnSpc>
            </a:pPr>
            <a:r>
              <a:rPr lang="en-US" sz="1792" b="1" spc="-35">
                <a:solidFill>
                  <a:srgbClr val="071743"/>
                </a:solidFill>
                <a:latin typeface="Roboto Bold"/>
                <a:ea typeface="Roboto Bold"/>
                <a:cs typeface="Roboto Bold"/>
                <a:sym typeface="Roboto Bold"/>
              </a:rPr>
              <a:t>and validation mechanism for</a:t>
            </a:r>
          </a:p>
          <a:p>
            <a:pPr algn="l">
              <a:lnSpc>
                <a:spcPts val="3226"/>
              </a:lnSpc>
            </a:pPr>
            <a:r>
              <a:rPr lang="en-US" sz="1792" b="1" spc="-35">
                <a:solidFill>
                  <a:srgbClr val="071743"/>
                </a:solidFill>
                <a:latin typeface="Roboto Bold"/>
                <a:ea typeface="Roboto Bold"/>
                <a:cs typeface="Roboto Bold"/>
                <a:sym typeface="Roboto Bold"/>
              </a:rPr>
              <a:t>pediatric age groups (investigative)</a:t>
            </a:r>
          </a:p>
        </p:txBody>
      </p:sp>
      <p:sp>
        <p:nvSpPr>
          <p:cNvPr id="9" name="Freeform 9"/>
          <p:cNvSpPr/>
          <p:nvPr/>
        </p:nvSpPr>
        <p:spPr>
          <a:xfrm>
            <a:off x="426574" y="6428009"/>
            <a:ext cx="10467474" cy="3006296"/>
          </a:xfrm>
          <a:custGeom>
            <a:avLst/>
            <a:gdLst/>
            <a:ahLst/>
            <a:cxnLst/>
            <a:rect l="l" t="t" r="r" b="b"/>
            <a:pathLst>
              <a:path w="10467474" h="3006296">
                <a:moveTo>
                  <a:pt x="0" y="0"/>
                </a:moveTo>
                <a:lnTo>
                  <a:pt x="10467474" y="0"/>
                </a:lnTo>
                <a:lnTo>
                  <a:pt x="10467474" y="3006296"/>
                </a:lnTo>
                <a:lnTo>
                  <a:pt x="0" y="30062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3259464" y="6854356"/>
            <a:ext cx="667206" cy="437279"/>
          </a:xfrm>
          <a:custGeom>
            <a:avLst/>
            <a:gdLst/>
            <a:ahLst/>
            <a:cxnLst/>
            <a:rect l="l" t="t" r="r" b="b"/>
            <a:pathLst>
              <a:path w="667206" h="437279">
                <a:moveTo>
                  <a:pt x="0" y="0"/>
                </a:moveTo>
                <a:lnTo>
                  <a:pt x="667206" y="0"/>
                </a:lnTo>
                <a:lnTo>
                  <a:pt x="667206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4779818" y="6854356"/>
            <a:ext cx="667206" cy="437279"/>
          </a:xfrm>
          <a:custGeom>
            <a:avLst/>
            <a:gdLst/>
            <a:ahLst/>
            <a:cxnLst/>
            <a:rect l="l" t="t" r="r" b="b"/>
            <a:pathLst>
              <a:path w="667206" h="437279">
                <a:moveTo>
                  <a:pt x="0" y="0"/>
                </a:moveTo>
                <a:lnTo>
                  <a:pt x="667206" y="0"/>
                </a:lnTo>
                <a:lnTo>
                  <a:pt x="667206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6529866" y="6854356"/>
            <a:ext cx="437512" cy="437279"/>
          </a:xfrm>
          <a:custGeom>
            <a:avLst/>
            <a:gdLst/>
            <a:ahLst/>
            <a:cxnLst/>
            <a:rect l="l" t="t" r="r" b="b"/>
            <a:pathLst>
              <a:path w="437512" h="437279">
                <a:moveTo>
                  <a:pt x="0" y="0"/>
                </a:moveTo>
                <a:lnTo>
                  <a:pt x="437512" y="0"/>
                </a:lnTo>
                <a:lnTo>
                  <a:pt x="437512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8268976" y="6854356"/>
            <a:ext cx="667206" cy="437279"/>
          </a:xfrm>
          <a:custGeom>
            <a:avLst/>
            <a:gdLst/>
            <a:ahLst/>
            <a:cxnLst/>
            <a:rect l="l" t="t" r="r" b="b"/>
            <a:pathLst>
              <a:path w="667206" h="437279">
                <a:moveTo>
                  <a:pt x="0" y="0"/>
                </a:moveTo>
                <a:lnTo>
                  <a:pt x="667206" y="0"/>
                </a:lnTo>
                <a:lnTo>
                  <a:pt x="667206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2210884" y="7392417"/>
            <a:ext cx="1260838" cy="15893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7"/>
              </a:lnSpc>
            </a:pPr>
            <a:r>
              <a:rPr lang="en-US" sz="1476" spc="-29">
                <a:solidFill>
                  <a:srgbClr val="071743"/>
                </a:solidFill>
                <a:latin typeface="Roboto"/>
                <a:ea typeface="Roboto"/>
                <a:cs typeface="Roboto"/>
                <a:sym typeface="Roboto"/>
              </a:rPr>
              <a:t>Complete</a:t>
            </a:r>
          </a:p>
          <a:p>
            <a:pPr algn="l">
              <a:lnSpc>
                <a:spcPts val="2657"/>
              </a:lnSpc>
            </a:pPr>
            <a:r>
              <a:rPr lang="en-US" sz="1476" spc="-29">
                <a:solidFill>
                  <a:srgbClr val="071743"/>
                </a:solidFill>
                <a:latin typeface="Roboto"/>
                <a:ea typeface="Roboto"/>
                <a:cs typeface="Roboto"/>
                <a:sym typeface="Roboto"/>
              </a:rPr>
              <a:t>software</a:t>
            </a:r>
          </a:p>
          <a:p>
            <a:pPr algn="l">
              <a:lnSpc>
                <a:spcPts val="2657"/>
              </a:lnSpc>
            </a:pPr>
            <a:r>
              <a:rPr lang="en-US" sz="1476" spc="-29">
                <a:solidFill>
                  <a:srgbClr val="071743"/>
                </a:solidFill>
                <a:latin typeface="Roboto"/>
                <a:ea typeface="Roboto"/>
                <a:cs typeface="Roboto"/>
                <a:sym typeface="Roboto"/>
              </a:rPr>
              <a:t>simulation and</a:t>
            </a:r>
          </a:p>
          <a:p>
            <a:pPr algn="l">
              <a:lnSpc>
                <a:spcPts val="2657"/>
              </a:lnSpc>
            </a:pPr>
            <a:r>
              <a:rPr lang="en-US" sz="1476" spc="-29">
                <a:solidFill>
                  <a:srgbClr val="071743"/>
                </a:solidFill>
                <a:latin typeface="Roboto"/>
                <a:ea typeface="Roboto"/>
                <a:cs typeface="Roboto"/>
                <a:sym typeface="Roboto"/>
              </a:rPr>
              <a:t>prototype</a:t>
            </a:r>
          </a:p>
          <a:p>
            <a:pPr algn="l">
              <a:lnSpc>
                <a:spcPts val="2657"/>
              </a:lnSpc>
            </a:pPr>
            <a:r>
              <a:rPr lang="en-US" sz="1476" spc="-29">
                <a:solidFill>
                  <a:srgbClr val="071743"/>
                </a:solidFill>
                <a:latin typeface="Roboto"/>
                <a:ea typeface="Roboto"/>
                <a:cs typeface="Roboto"/>
                <a:sym typeface="Roboto"/>
              </a:rPr>
              <a:t>verification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901467" y="7392417"/>
            <a:ext cx="973582" cy="15893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7"/>
              </a:lnSpc>
            </a:pPr>
            <a:r>
              <a:rPr lang="en-US" sz="1476" spc="-29">
                <a:solidFill>
                  <a:srgbClr val="071743"/>
                </a:solidFill>
                <a:latin typeface="Roboto"/>
                <a:ea typeface="Roboto"/>
                <a:cs typeface="Roboto"/>
                <a:sym typeface="Roboto"/>
              </a:rPr>
              <a:t>Integrate</a:t>
            </a:r>
          </a:p>
          <a:p>
            <a:pPr algn="l">
              <a:lnSpc>
                <a:spcPts val="2657"/>
              </a:lnSpc>
            </a:pPr>
            <a:r>
              <a:rPr lang="en-US" sz="1476" spc="-29">
                <a:solidFill>
                  <a:srgbClr val="071743"/>
                </a:solidFill>
                <a:latin typeface="Roboto"/>
                <a:ea typeface="Roboto"/>
                <a:cs typeface="Roboto"/>
                <a:sym typeface="Roboto"/>
              </a:rPr>
              <a:t>physical</a:t>
            </a:r>
          </a:p>
          <a:p>
            <a:pPr algn="l">
              <a:lnSpc>
                <a:spcPts val="2657"/>
              </a:lnSpc>
            </a:pPr>
            <a:r>
              <a:rPr lang="en-US" sz="1476" spc="-29">
                <a:solidFill>
                  <a:srgbClr val="071743"/>
                </a:solidFill>
                <a:latin typeface="Roboto"/>
                <a:ea typeface="Roboto"/>
                <a:cs typeface="Roboto"/>
                <a:sym typeface="Roboto"/>
              </a:rPr>
              <a:t>motion and</a:t>
            </a:r>
          </a:p>
          <a:p>
            <a:pPr algn="l">
              <a:lnSpc>
                <a:spcPts val="2657"/>
              </a:lnSpc>
            </a:pPr>
            <a:r>
              <a:rPr lang="en-US" sz="1476" spc="-29">
                <a:solidFill>
                  <a:srgbClr val="071743"/>
                </a:solidFill>
                <a:latin typeface="Roboto"/>
                <a:ea typeface="Roboto"/>
                <a:cs typeface="Roboto"/>
                <a:sym typeface="Roboto"/>
              </a:rPr>
              <a:t>contact</a:t>
            </a:r>
          </a:p>
          <a:p>
            <a:pPr algn="l">
              <a:lnSpc>
                <a:spcPts val="2657"/>
              </a:lnSpc>
            </a:pPr>
            <a:r>
              <a:rPr lang="en-US" sz="1476" spc="-29">
                <a:solidFill>
                  <a:srgbClr val="071743"/>
                </a:solidFill>
                <a:latin typeface="Roboto"/>
                <a:ea typeface="Roboto"/>
                <a:cs typeface="Roboto"/>
                <a:sym typeface="Roboto"/>
              </a:rPr>
              <a:t>sensors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447024" y="7561716"/>
            <a:ext cx="1082843" cy="12375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594"/>
              </a:lnSpc>
            </a:pPr>
            <a:r>
              <a:rPr lang="en-US" spc="-17" dirty="0">
                <a:solidFill>
                  <a:srgbClr val="071743"/>
                </a:solidFill>
                <a:latin typeface="Roboto"/>
                <a:ea typeface="Roboto"/>
                <a:cs typeface="Roboto"/>
                <a:sym typeface="Roboto"/>
              </a:rPr>
              <a:t>Develop and</a:t>
            </a:r>
          </a:p>
          <a:p>
            <a:pPr algn="l">
              <a:lnSpc>
                <a:spcPts val="1594"/>
              </a:lnSpc>
            </a:pPr>
            <a:r>
              <a:rPr lang="en-US" spc="-17" dirty="0">
                <a:solidFill>
                  <a:srgbClr val="071743"/>
                </a:solidFill>
                <a:latin typeface="Roboto"/>
                <a:ea typeface="Roboto"/>
                <a:cs typeface="Roboto"/>
                <a:sym typeface="Roboto"/>
              </a:rPr>
              <a:t>verify age-appropriate protocols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111841" y="7392417"/>
            <a:ext cx="1404935" cy="15893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7"/>
              </a:lnSpc>
            </a:pPr>
            <a:r>
              <a:rPr lang="en-US" sz="1476" spc="-29">
                <a:solidFill>
                  <a:srgbClr val="071743"/>
                </a:solidFill>
                <a:latin typeface="Roboto"/>
                <a:ea typeface="Roboto"/>
                <a:cs typeface="Roboto"/>
                <a:sym typeface="Roboto"/>
              </a:rPr>
              <a:t>Validate system with reference data and</a:t>
            </a:r>
          </a:p>
          <a:p>
            <a:pPr algn="l">
              <a:lnSpc>
                <a:spcPts val="2657"/>
              </a:lnSpc>
            </a:pPr>
            <a:r>
              <a:rPr lang="en-US" sz="1476" spc="-29">
                <a:solidFill>
                  <a:srgbClr val="071743"/>
                </a:solidFill>
                <a:latin typeface="Roboto"/>
                <a:ea typeface="Roboto"/>
                <a:cs typeface="Roboto"/>
                <a:sym typeface="Roboto"/>
              </a:rPr>
              <a:t>configure</a:t>
            </a:r>
          </a:p>
          <a:p>
            <a:pPr algn="l">
              <a:lnSpc>
                <a:spcPts val="2657"/>
              </a:lnSpc>
            </a:pPr>
            <a:r>
              <a:rPr lang="en-US" sz="1476" spc="-29">
                <a:solidFill>
                  <a:srgbClr val="071743"/>
                </a:solidFill>
                <a:latin typeface="Roboto"/>
                <a:ea typeface="Roboto"/>
                <a:cs typeface="Roboto"/>
                <a:sym typeface="Roboto"/>
              </a:rPr>
              <a:t>pediatric ranges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962449" y="7392417"/>
            <a:ext cx="1188742" cy="15893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7"/>
              </a:lnSpc>
            </a:pPr>
            <a:r>
              <a:rPr lang="en-US" sz="1476" spc="-29">
                <a:solidFill>
                  <a:srgbClr val="071743"/>
                </a:solidFill>
                <a:latin typeface="Roboto"/>
                <a:ea typeface="Roboto"/>
                <a:cs typeface="Roboto"/>
                <a:sym typeface="Roboto"/>
              </a:rPr>
              <a:t>Biomedical</a:t>
            </a:r>
          </a:p>
          <a:p>
            <a:pPr algn="l">
              <a:lnSpc>
                <a:spcPts val="2657"/>
              </a:lnSpc>
            </a:pPr>
            <a:r>
              <a:rPr lang="en-US" sz="1476" spc="-29">
                <a:solidFill>
                  <a:srgbClr val="071743"/>
                </a:solidFill>
                <a:latin typeface="Roboto"/>
                <a:ea typeface="Roboto"/>
                <a:cs typeface="Roboto"/>
                <a:sym typeface="Roboto"/>
              </a:rPr>
              <a:t>expert review</a:t>
            </a:r>
          </a:p>
          <a:p>
            <a:pPr algn="l">
              <a:lnSpc>
                <a:spcPts val="2657"/>
              </a:lnSpc>
            </a:pPr>
            <a:r>
              <a:rPr lang="en-US" sz="1476" spc="-29">
                <a:solidFill>
                  <a:srgbClr val="071743"/>
                </a:solidFill>
                <a:latin typeface="Roboto"/>
                <a:ea typeface="Roboto"/>
                <a:cs typeface="Roboto"/>
                <a:sym typeface="Roboto"/>
              </a:rPr>
              <a:t>and clinical</a:t>
            </a:r>
          </a:p>
          <a:p>
            <a:pPr algn="l">
              <a:lnSpc>
                <a:spcPts val="2657"/>
              </a:lnSpc>
            </a:pPr>
            <a:r>
              <a:rPr lang="en-US" sz="1476" spc="-29">
                <a:solidFill>
                  <a:srgbClr val="071743"/>
                </a:solidFill>
                <a:latin typeface="Roboto"/>
                <a:ea typeface="Roboto"/>
                <a:cs typeface="Roboto"/>
                <a:sym typeface="Roboto"/>
              </a:rPr>
              <a:t>validation</a:t>
            </a:r>
          </a:p>
          <a:p>
            <a:pPr algn="l">
              <a:lnSpc>
                <a:spcPts val="2657"/>
              </a:lnSpc>
            </a:pPr>
            <a:r>
              <a:rPr lang="en-US" sz="1476" spc="-29">
                <a:solidFill>
                  <a:srgbClr val="071743"/>
                </a:solidFill>
                <a:latin typeface="Roboto"/>
                <a:ea typeface="Roboto"/>
                <a:cs typeface="Roboto"/>
                <a:sym typeface="Roboto"/>
              </a:rPr>
              <a:t>preparation</a:t>
            </a:r>
          </a:p>
        </p:txBody>
      </p:sp>
      <p:sp>
        <p:nvSpPr>
          <p:cNvPr id="19" name="Freeform 19"/>
          <p:cNvSpPr/>
          <p:nvPr/>
        </p:nvSpPr>
        <p:spPr>
          <a:xfrm>
            <a:off x="10664354" y="207708"/>
            <a:ext cx="6759560" cy="6438940"/>
          </a:xfrm>
          <a:custGeom>
            <a:avLst/>
            <a:gdLst/>
            <a:ahLst/>
            <a:cxnLst/>
            <a:rect l="l" t="t" r="r" b="b"/>
            <a:pathLst>
              <a:path w="6759560" h="6438940">
                <a:moveTo>
                  <a:pt x="0" y="0"/>
                </a:moveTo>
                <a:lnTo>
                  <a:pt x="6759560" y="0"/>
                </a:lnTo>
                <a:lnTo>
                  <a:pt x="6759560" y="6438940"/>
                </a:lnTo>
                <a:lnTo>
                  <a:pt x="0" y="643894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11101866" y="634055"/>
            <a:ext cx="5884536" cy="5586245"/>
          </a:xfrm>
          <a:custGeom>
            <a:avLst/>
            <a:gdLst/>
            <a:ahLst/>
            <a:cxnLst/>
            <a:rect l="l" t="t" r="r" b="b"/>
            <a:pathLst>
              <a:path w="5884536" h="5586245">
                <a:moveTo>
                  <a:pt x="0" y="0"/>
                </a:moveTo>
                <a:lnTo>
                  <a:pt x="5884536" y="0"/>
                </a:lnTo>
                <a:lnTo>
                  <a:pt x="5884536" y="5586246"/>
                </a:lnTo>
                <a:lnTo>
                  <a:pt x="0" y="558624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11965952" y="5783021"/>
            <a:ext cx="5457962" cy="1934962"/>
          </a:xfrm>
          <a:custGeom>
            <a:avLst/>
            <a:gdLst/>
            <a:ahLst/>
            <a:cxnLst/>
            <a:rect l="l" t="t" r="r" b="b"/>
            <a:pathLst>
              <a:path w="5457962" h="1934962">
                <a:moveTo>
                  <a:pt x="0" y="0"/>
                </a:moveTo>
                <a:lnTo>
                  <a:pt x="5457962" y="0"/>
                </a:lnTo>
                <a:lnTo>
                  <a:pt x="5457962" y="1934962"/>
                </a:lnTo>
                <a:lnTo>
                  <a:pt x="0" y="193496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12439825" y="6047666"/>
            <a:ext cx="4387816" cy="1330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37"/>
              </a:lnSpc>
            </a:pPr>
            <a:r>
              <a:rPr lang="en-US" sz="4447" b="1" spc="-89">
                <a:solidFill>
                  <a:srgbClr val="F3F6FA"/>
                </a:solidFill>
                <a:latin typeface="Roboto Bold"/>
                <a:ea typeface="Roboto Bold"/>
                <a:cs typeface="Roboto Bold"/>
                <a:sym typeface="Roboto Bold"/>
              </a:rPr>
              <a:t>Measure. Verify.</a:t>
            </a:r>
          </a:p>
          <a:p>
            <a:pPr algn="l">
              <a:lnSpc>
                <a:spcPts val="5337"/>
              </a:lnSpc>
            </a:pPr>
            <a:r>
              <a:rPr lang="en-US" sz="4447" b="1" spc="-89">
                <a:solidFill>
                  <a:srgbClr val="2193AF"/>
                </a:solidFill>
                <a:latin typeface="Roboto Bold"/>
                <a:ea typeface="Roboto Bold"/>
                <a:cs typeface="Roboto Bold"/>
                <a:sym typeface="Roboto Bold"/>
              </a:rPr>
              <a:t>Understand.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081867" y="7909340"/>
            <a:ext cx="5036344" cy="3581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1" spc="-45">
                <a:solidFill>
                  <a:srgbClr val="071743"/>
                </a:solidFill>
                <a:latin typeface="Roboto Bold"/>
                <a:ea typeface="Roboto Bold"/>
                <a:cs typeface="Roboto Bold"/>
                <a:sym typeface="Roboto Bold"/>
              </a:rPr>
              <a:t>MEDAITHON'26 </a:t>
            </a:r>
            <a:r>
              <a:rPr lang="en-US" sz="2250" b="1" spc="-45">
                <a:solidFill>
                  <a:srgbClr val="2193AF"/>
                </a:solidFill>
                <a:latin typeface="Roboto Bold"/>
                <a:ea typeface="Roboto Bold"/>
                <a:cs typeface="Roboto Bold"/>
                <a:sym typeface="Roboto Bold"/>
              </a:rPr>
              <a:t>| Code4Cure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081867" y="8376226"/>
            <a:ext cx="5036344" cy="3581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spc="-45">
                <a:solidFill>
                  <a:srgbClr val="071743"/>
                </a:solidFill>
                <a:latin typeface="Roboto"/>
                <a:ea typeface="Roboto"/>
                <a:cs typeface="Roboto"/>
                <a:sym typeface="Roboto"/>
              </a:rPr>
              <a:t>Project </a:t>
            </a:r>
            <a:r>
              <a:rPr lang="en-US" sz="2250" b="1" spc="-45">
                <a:solidFill>
                  <a:srgbClr val="2193AF"/>
                </a:solidFill>
                <a:latin typeface="Roboto Bold"/>
                <a:ea typeface="Roboto Bold"/>
                <a:cs typeface="Roboto Bold"/>
                <a:sym typeface="Roboto Bold"/>
              </a:rPr>
              <a:t>MED-PS-010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46448" y="7822081"/>
            <a:ext cx="1089187" cy="296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5"/>
              </a:lnSpc>
            </a:pPr>
            <a:r>
              <a:rPr lang="en-US" sz="1670" b="1" spc="-33">
                <a:solidFill>
                  <a:srgbClr val="F3F6FA"/>
                </a:solidFill>
                <a:latin typeface="Roboto Bold"/>
                <a:ea typeface="Roboto Bold"/>
                <a:cs typeface="Roboto Bold"/>
                <a:sym typeface="Roboto Bold"/>
              </a:rPr>
              <a:t>ROADMAP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3875019" y="6948762"/>
            <a:ext cx="939512" cy="3108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lang="en-US" sz="1775" b="1" spc="-35">
                <a:solidFill>
                  <a:srgbClr val="2193AF"/>
                </a:solidFill>
                <a:latin typeface="Roboto Bold"/>
                <a:ea typeface="Roboto Bold"/>
                <a:cs typeface="Roboto Bold"/>
                <a:sym typeface="Roboto Bold"/>
              </a:rPr>
              <a:t>PHASE 2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509115" y="6948762"/>
            <a:ext cx="943229" cy="3108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lang="en-US" sz="1775" b="1" spc="-35">
                <a:solidFill>
                  <a:srgbClr val="2193AF"/>
                </a:solidFill>
                <a:latin typeface="Roboto Bold"/>
                <a:ea typeface="Roboto Bold"/>
                <a:cs typeface="Roboto Bold"/>
                <a:sym typeface="Roboto Bold"/>
              </a:rPr>
              <a:t>PHASE 3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116388" y="6948762"/>
            <a:ext cx="950214" cy="3108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lang="en-US" sz="1775" b="1" spc="-35">
                <a:solidFill>
                  <a:srgbClr val="2193AF"/>
                </a:solidFill>
                <a:latin typeface="Roboto Bold"/>
                <a:ea typeface="Roboto Bold"/>
                <a:cs typeface="Roboto Bold"/>
                <a:sym typeface="Roboto Bold"/>
              </a:rPr>
              <a:t>PHASE 4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964957" y="6948762"/>
            <a:ext cx="937934" cy="3108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lang="en-US" sz="1775" b="1" spc="-35">
                <a:solidFill>
                  <a:srgbClr val="2193AF"/>
                </a:solidFill>
                <a:latin typeface="Roboto Bold"/>
                <a:ea typeface="Roboto Bold"/>
                <a:cs typeface="Roboto Bold"/>
                <a:sym typeface="Roboto Bold"/>
              </a:rPr>
              <a:t>PHASE 5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2214561" y="6948762"/>
            <a:ext cx="893098" cy="3108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lang="en-US" sz="1775" b="1" spc="-35">
                <a:solidFill>
                  <a:srgbClr val="2193AF"/>
                </a:solidFill>
                <a:latin typeface="Roboto Bold"/>
                <a:ea typeface="Roboto Bold"/>
                <a:cs typeface="Roboto Bold"/>
                <a:sym typeface="Roboto Bold"/>
              </a:rPr>
              <a:t>PHASE 1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74689" y="3213464"/>
            <a:ext cx="832705" cy="296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5"/>
              </a:lnSpc>
            </a:pPr>
            <a:r>
              <a:rPr lang="en-US" sz="1670" b="1" spc="-33">
                <a:solidFill>
                  <a:srgbClr val="F3F6FA"/>
                </a:solidFill>
                <a:latin typeface="Roboto Bold"/>
                <a:ea typeface="Roboto Bold"/>
                <a:cs typeface="Roboto Bold"/>
                <a:sym typeface="Roboto Bold"/>
              </a:rPr>
              <a:t>IMPACT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769</Words>
  <Application>Microsoft Office PowerPoint</Application>
  <PresentationFormat>Custom</PresentationFormat>
  <Paragraphs>289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Roboto Bold</vt:lpstr>
      <vt:lpstr>Arial</vt:lpstr>
      <vt:lpstr>Roboto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Pediatric VitalGuard AI</dc:title>
  <cp:lastModifiedBy>Eklavya Chaudhary</cp:lastModifiedBy>
  <cp:revision>4</cp:revision>
  <dcterms:created xsi:type="dcterms:W3CDTF">2006-08-16T00:00:00Z</dcterms:created>
  <dcterms:modified xsi:type="dcterms:W3CDTF">2026-10-26T10:47:12Z</dcterms:modified>
  <dc:identifier>DAHZGZ3DJLM</dc:identifier>
</cp:coreProperties>
</file>